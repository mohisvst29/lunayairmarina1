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70" r:id="rId13"/>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94601"/>
  </p:normalViewPr>
  <p:slideViewPr>
    <p:cSldViewPr snapToGrid="0">
      <p:cViewPr varScale="1">
        <p:scale>
          <a:sx n="103" d="100"/>
          <a:sy n="103" d="100"/>
        </p:scale>
        <p:origin x="114"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1" Type="http://schemas.openxmlformats.org/officeDocument/2006/relationships/hyperlink" Target="https://boatpro.club/"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boatpro.club/" TargetMode="Externa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367CC5-D1BA-4616-AB02-742665A73AC1}" type="doc">
      <dgm:prSet loTypeId="urn:microsoft.com/office/officeart/2005/8/layout/process5" loCatId="process" qsTypeId="urn:microsoft.com/office/officeart/2005/8/quickstyle/simple5" qsCatId="simple" csTypeId="urn:microsoft.com/office/officeart/2005/8/colors/accent2_5" csCatId="accent2" phldr="1"/>
      <dgm:spPr/>
      <dgm:t>
        <a:bodyPr/>
        <a:lstStyle/>
        <a:p>
          <a:endParaRPr lang="en-US"/>
        </a:p>
      </dgm:t>
    </dgm:pt>
    <dgm:pt modelId="{28E71C07-EB5B-4B71-BB2A-F3146A0FFBB3}">
      <dgm:prSet/>
      <dgm:spPr/>
      <dgm:t>
        <a:bodyPr/>
        <a:lstStyle/>
        <a:p>
          <a:r>
            <a:rPr lang="ar-SA"/>
            <a:t>خدمة عملاء راقية وشخصية</a:t>
          </a:r>
          <a:endParaRPr lang="en-US"/>
        </a:p>
      </dgm:t>
    </dgm:pt>
    <dgm:pt modelId="{B755B9DD-8B35-494A-8BBA-315E3BB406EE}" type="parTrans" cxnId="{19436D4B-66D6-41FE-82DA-561CDACDF79A}">
      <dgm:prSet/>
      <dgm:spPr/>
      <dgm:t>
        <a:bodyPr/>
        <a:lstStyle/>
        <a:p>
          <a:endParaRPr lang="en-US"/>
        </a:p>
      </dgm:t>
    </dgm:pt>
    <dgm:pt modelId="{7CF8EA9A-E4FF-40B4-9F20-6343A6923DF9}" type="sibTrans" cxnId="{19436D4B-66D6-41FE-82DA-561CDACDF79A}">
      <dgm:prSet/>
      <dgm:spPr/>
      <dgm:t>
        <a:bodyPr/>
        <a:lstStyle/>
        <a:p>
          <a:endParaRPr lang="en-US"/>
        </a:p>
      </dgm:t>
    </dgm:pt>
    <dgm:pt modelId="{F242D416-8B93-4510-A041-67C8C7E7BC86}">
      <dgm:prSet/>
      <dgm:spPr/>
      <dgm:t>
        <a:bodyPr/>
        <a:lstStyle/>
        <a:p>
          <a:pPr algn="just" rtl="1"/>
          <a:r>
            <a:rPr lang="ar-SA" dirty="0"/>
            <a:t>فلسفتنا تقوم على بناء علاقات طويلة الأمد مع عملائنا. نحن نؤمن بأن الشراكة الناجحة تتطلب منا تجاوز توقعاتك باستمرار وتلبية متطلباتك في أي وقت. من خلال فهمنا العميق لاحتياجاتك وتفضيلاتك، نقدم لك خدمة مخصصة تجعلك تشعر بأنك الشريك الأهم في مسيرتنا.</a:t>
          </a:r>
          <a:endParaRPr lang="en-US" dirty="0"/>
        </a:p>
      </dgm:t>
    </dgm:pt>
    <dgm:pt modelId="{AFE82C06-4C54-4B03-ADD3-6B236E1C0831}" type="parTrans" cxnId="{5E049953-5D23-4A19-AE6B-1D8ECC732F34}">
      <dgm:prSet/>
      <dgm:spPr/>
      <dgm:t>
        <a:bodyPr/>
        <a:lstStyle/>
        <a:p>
          <a:endParaRPr lang="en-US"/>
        </a:p>
      </dgm:t>
    </dgm:pt>
    <dgm:pt modelId="{99EFB17E-C672-41E6-A57C-3E7842179783}" type="sibTrans" cxnId="{5E049953-5D23-4A19-AE6B-1D8ECC732F34}">
      <dgm:prSet/>
      <dgm:spPr/>
      <dgm:t>
        <a:bodyPr/>
        <a:lstStyle/>
        <a:p>
          <a:endParaRPr lang="en-US"/>
        </a:p>
      </dgm:t>
    </dgm:pt>
    <dgm:pt modelId="{F4E97D8B-2447-4BB0-82D7-045DF1E99728}">
      <dgm:prSet/>
      <dgm:spPr/>
      <dgm:t>
        <a:bodyPr/>
        <a:lstStyle/>
        <a:p>
          <a:pPr algn="just" rtl="1"/>
          <a:r>
            <a:rPr lang="ar-SA" dirty="0"/>
            <a:t>تقدم لونيير مارينا مجموعة لا مثيل لها من الخدمات التي تلبي كل متطلبات المالك. سواء كنت تبحث عن دعم تشغيلي، مساعدة فنية، أو إشراف مالي، يمكنك اختيار نهجنا المتكامل الذي يشمل الإدارة الشاملة 360 درجة، أو اختيار خدمات معينة لتناسب احتياجاتك الفريدة.</a:t>
          </a:r>
          <a:endParaRPr lang="en-US" dirty="0"/>
        </a:p>
      </dgm:t>
    </dgm:pt>
    <dgm:pt modelId="{D614A949-3294-421F-B971-4146BFB6E7E0}" type="parTrans" cxnId="{AF08BD1A-327A-4963-AB9D-2C666AAF132A}">
      <dgm:prSet/>
      <dgm:spPr/>
      <dgm:t>
        <a:bodyPr/>
        <a:lstStyle/>
        <a:p>
          <a:endParaRPr lang="en-US"/>
        </a:p>
      </dgm:t>
    </dgm:pt>
    <dgm:pt modelId="{E595CF52-0A41-4D78-8F19-36A6F1E1D108}" type="sibTrans" cxnId="{AF08BD1A-327A-4963-AB9D-2C666AAF132A}">
      <dgm:prSet/>
      <dgm:spPr/>
      <dgm:t>
        <a:bodyPr/>
        <a:lstStyle/>
        <a:p>
          <a:endParaRPr lang="en-US"/>
        </a:p>
      </dgm:t>
    </dgm:pt>
    <dgm:pt modelId="{69A2BEB3-E4C6-405D-BD3E-E8EFF1A32307}">
      <dgm:prSet/>
      <dgm:spPr/>
      <dgm:t>
        <a:bodyPr/>
        <a:lstStyle/>
        <a:p>
          <a:pPr algn="just" rtl="1"/>
          <a:r>
            <a:rPr lang="ar-SA" dirty="0"/>
            <a:t>نحن ندرك أهمية الخصوصية لأصحاب اليخوت وضيوفهم. نتعامل مع كافة المعلومات الحساسة المتعلقة بملكية اليخت، خطط الرحلات، والضيوف بأقصى درجات السرية والاحترافية، مما يضمن الحفاظ على خصوصية عملائنا الكرام والشخصيات البارزة.</a:t>
          </a:r>
          <a:endParaRPr lang="en-US" dirty="0"/>
        </a:p>
      </dgm:t>
    </dgm:pt>
    <dgm:pt modelId="{04478177-C977-42BC-8F49-416194CEC8A6}" type="parTrans" cxnId="{EF9B2837-4BB1-4409-A119-AFEEFD034F6B}">
      <dgm:prSet/>
      <dgm:spPr/>
      <dgm:t>
        <a:bodyPr/>
        <a:lstStyle/>
        <a:p>
          <a:endParaRPr lang="en-US"/>
        </a:p>
      </dgm:t>
    </dgm:pt>
    <dgm:pt modelId="{09492DF4-BCE9-40E5-BC4B-E2CC953A2AA0}" type="sibTrans" cxnId="{EF9B2837-4BB1-4409-A119-AFEEFD034F6B}">
      <dgm:prSet/>
      <dgm:spPr/>
      <dgm:t>
        <a:bodyPr/>
        <a:lstStyle/>
        <a:p>
          <a:endParaRPr lang="en-US"/>
        </a:p>
      </dgm:t>
    </dgm:pt>
    <dgm:pt modelId="{7E3188BD-CB15-DE4D-8B88-34720940E76B}" type="pres">
      <dgm:prSet presAssocID="{8D367CC5-D1BA-4616-AB02-742665A73AC1}" presName="diagram" presStyleCnt="0">
        <dgm:presLayoutVars>
          <dgm:dir/>
          <dgm:resizeHandles val="exact"/>
        </dgm:presLayoutVars>
      </dgm:prSet>
      <dgm:spPr/>
    </dgm:pt>
    <dgm:pt modelId="{8435BA27-D837-4749-AE0C-F0A6619693AD}" type="pres">
      <dgm:prSet presAssocID="{28E71C07-EB5B-4B71-BB2A-F3146A0FFBB3}" presName="node" presStyleLbl="node1" presStyleIdx="0" presStyleCnt="4">
        <dgm:presLayoutVars>
          <dgm:bulletEnabled val="1"/>
        </dgm:presLayoutVars>
      </dgm:prSet>
      <dgm:spPr/>
    </dgm:pt>
    <dgm:pt modelId="{00A347AC-1E05-1D48-BA6B-BBDDF6E6B279}" type="pres">
      <dgm:prSet presAssocID="{7CF8EA9A-E4FF-40B4-9F20-6343A6923DF9}" presName="sibTrans" presStyleLbl="sibTrans2D1" presStyleIdx="0" presStyleCnt="3"/>
      <dgm:spPr/>
    </dgm:pt>
    <dgm:pt modelId="{1C40B39B-401F-254B-9B05-BDE9BEC38425}" type="pres">
      <dgm:prSet presAssocID="{7CF8EA9A-E4FF-40B4-9F20-6343A6923DF9}" presName="connectorText" presStyleLbl="sibTrans2D1" presStyleIdx="0" presStyleCnt="3"/>
      <dgm:spPr/>
    </dgm:pt>
    <dgm:pt modelId="{9673A32B-0C9A-E645-8E24-D0DE2741002B}" type="pres">
      <dgm:prSet presAssocID="{F242D416-8B93-4510-A041-67C8C7E7BC86}" presName="node" presStyleLbl="node1" presStyleIdx="1" presStyleCnt="4">
        <dgm:presLayoutVars>
          <dgm:bulletEnabled val="1"/>
        </dgm:presLayoutVars>
      </dgm:prSet>
      <dgm:spPr/>
    </dgm:pt>
    <dgm:pt modelId="{FD7D7522-8837-CC47-8BE8-77AA76449977}" type="pres">
      <dgm:prSet presAssocID="{99EFB17E-C672-41E6-A57C-3E7842179783}" presName="sibTrans" presStyleLbl="sibTrans2D1" presStyleIdx="1" presStyleCnt="3"/>
      <dgm:spPr/>
    </dgm:pt>
    <dgm:pt modelId="{0E01905E-ABDD-1E4F-A503-E69E3E491001}" type="pres">
      <dgm:prSet presAssocID="{99EFB17E-C672-41E6-A57C-3E7842179783}" presName="connectorText" presStyleLbl="sibTrans2D1" presStyleIdx="1" presStyleCnt="3"/>
      <dgm:spPr/>
    </dgm:pt>
    <dgm:pt modelId="{63997F22-7C5A-F541-866F-3FB7B10BF376}" type="pres">
      <dgm:prSet presAssocID="{F4E97D8B-2447-4BB0-82D7-045DF1E99728}" presName="node" presStyleLbl="node1" presStyleIdx="2" presStyleCnt="4">
        <dgm:presLayoutVars>
          <dgm:bulletEnabled val="1"/>
        </dgm:presLayoutVars>
      </dgm:prSet>
      <dgm:spPr/>
    </dgm:pt>
    <dgm:pt modelId="{FD24B8DA-24DA-EB47-8A64-358085DDEFBE}" type="pres">
      <dgm:prSet presAssocID="{E595CF52-0A41-4D78-8F19-36A6F1E1D108}" presName="sibTrans" presStyleLbl="sibTrans2D1" presStyleIdx="2" presStyleCnt="3"/>
      <dgm:spPr/>
    </dgm:pt>
    <dgm:pt modelId="{8687C71E-6085-214C-8B7B-9335E2D4CCEB}" type="pres">
      <dgm:prSet presAssocID="{E595CF52-0A41-4D78-8F19-36A6F1E1D108}" presName="connectorText" presStyleLbl="sibTrans2D1" presStyleIdx="2" presStyleCnt="3"/>
      <dgm:spPr/>
    </dgm:pt>
    <dgm:pt modelId="{652916DD-0F7E-194A-8F63-12CE50E7DC41}" type="pres">
      <dgm:prSet presAssocID="{69A2BEB3-E4C6-405D-BD3E-E8EFF1A32307}" presName="node" presStyleLbl="node1" presStyleIdx="3" presStyleCnt="4">
        <dgm:presLayoutVars>
          <dgm:bulletEnabled val="1"/>
        </dgm:presLayoutVars>
      </dgm:prSet>
      <dgm:spPr/>
    </dgm:pt>
  </dgm:ptLst>
  <dgm:cxnLst>
    <dgm:cxn modelId="{24384D16-C0BC-364C-AD8E-28AA12F7771C}" type="presOf" srcId="{E595CF52-0A41-4D78-8F19-36A6F1E1D108}" destId="{FD24B8DA-24DA-EB47-8A64-358085DDEFBE}" srcOrd="0" destOrd="0" presId="urn:microsoft.com/office/officeart/2005/8/layout/process5"/>
    <dgm:cxn modelId="{AF08BD1A-327A-4963-AB9D-2C666AAF132A}" srcId="{8D367CC5-D1BA-4616-AB02-742665A73AC1}" destId="{F4E97D8B-2447-4BB0-82D7-045DF1E99728}" srcOrd="2" destOrd="0" parTransId="{D614A949-3294-421F-B971-4146BFB6E7E0}" sibTransId="{E595CF52-0A41-4D78-8F19-36A6F1E1D108}"/>
    <dgm:cxn modelId="{EF9B2837-4BB1-4409-A119-AFEEFD034F6B}" srcId="{8D367CC5-D1BA-4616-AB02-742665A73AC1}" destId="{69A2BEB3-E4C6-405D-BD3E-E8EFF1A32307}" srcOrd="3" destOrd="0" parTransId="{04478177-C977-42BC-8F49-416194CEC8A6}" sibTransId="{09492DF4-BCE9-40E5-BC4B-E2CC953A2AA0}"/>
    <dgm:cxn modelId="{E88B935C-D348-704C-A110-5837FAA8F2D1}" type="presOf" srcId="{8D367CC5-D1BA-4616-AB02-742665A73AC1}" destId="{7E3188BD-CB15-DE4D-8B88-34720940E76B}" srcOrd="0" destOrd="0" presId="urn:microsoft.com/office/officeart/2005/8/layout/process5"/>
    <dgm:cxn modelId="{B50CA06A-78BC-3B46-B5B6-74CB48B09A12}" type="presOf" srcId="{69A2BEB3-E4C6-405D-BD3E-E8EFF1A32307}" destId="{652916DD-0F7E-194A-8F63-12CE50E7DC41}" srcOrd="0" destOrd="0" presId="urn:microsoft.com/office/officeart/2005/8/layout/process5"/>
    <dgm:cxn modelId="{19436D4B-66D6-41FE-82DA-561CDACDF79A}" srcId="{8D367CC5-D1BA-4616-AB02-742665A73AC1}" destId="{28E71C07-EB5B-4B71-BB2A-F3146A0FFBB3}" srcOrd="0" destOrd="0" parTransId="{B755B9DD-8B35-494A-8BBA-315E3BB406EE}" sibTransId="{7CF8EA9A-E4FF-40B4-9F20-6343A6923DF9}"/>
    <dgm:cxn modelId="{BC29F44D-2157-064E-B623-1413FA0A574B}" type="presOf" srcId="{7CF8EA9A-E4FF-40B4-9F20-6343A6923DF9}" destId="{00A347AC-1E05-1D48-BA6B-BBDDF6E6B279}" srcOrd="0" destOrd="0" presId="urn:microsoft.com/office/officeart/2005/8/layout/process5"/>
    <dgm:cxn modelId="{2726B550-2751-124E-9A3C-2DAAD9D4E44C}" type="presOf" srcId="{7CF8EA9A-E4FF-40B4-9F20-6343A6923DF9}" destId="{1C40B39B-401F-254B-9B05-BDE9BEC38425}" srcOrd="1" destOrd="0" presId="urn:microsoft.com/office/officeart/2005/8/layout/process5"/>
    <dgm:cxn modelId="{5E049953-5D23-4A19-AE6B-1D8ECC732F34}" srcId="{8D367CC5-D1BA-4616-AB02-742665A73AC1}" destId="{F242D416-8B93-4510-A041-67C8C7E7BC86}" srcOrd="1" destOrd="0" parTransId="{AFE82C06-4C54-4B03-ADD3-6B236E1C0831}" sibTransId="{99EFB17E-C672-41E6-A57C-3E7842179783}"/>
    <dgm:cxn modelId="{61373D92-0D63-E544-8049-B8EDC6620253}" type="presOf" srcId="{99EFB17E-C672-41E6-A57C-3E7842179783}" destId="{FD7D7522-8837-CC47-8BE8-77AA76449977}" srcOrd="0" destOrd="0" presId="urn:microsoft.com/office/officeart/2005/8/layout/process5"/>
    <dgm:cxn modelId="{379964A3-6312-4541-8A14-6ABABEDBA638}" type="presOf" srcId="{F4E97D8B-2447-4BB0-82D7-045DF1E99728}" destId="{63997F22-7C5A-F541-866F-3FB7B10BF376}" srcOrd="0" destOrd="0" presId="urn:microsoft.com/office/officeart/2005/8/layout/process5"/>
    <dgm:cxn modelId="{529FB0CD-EE2C-F84B-86B7-0BC24371DE4A}" type="presOf" srcId="{E595CF52-0A41-4D78-8F19-36A6F1E1D108}" destId="{8687C71E-6085-214C-8B7B-9335E2D4CCEB}" srcOrd="1" destOrd="0" presId="urn:microsoft.com/office/officeart/2005/8/layout/process5"/>
    <dgm:cxn modelId="{D89070D5-B513-4349-86EF-E8199E4BD1CC}" type="presOf" srcId="{F242D416-8B93-4510-A041-67C8C7E7BC86}" destId="{9673A32B-0C9A-E645-8E24-D0DE2741002B}" srcOrd="0" destOrd="0" presId="urn:microsoft.com/office/officeart/2005/8/layout/process5"/>
    <dgm:cxn modelId="{1B8F57E7-F063-D443-AB81-D044669AD269}" type="presOf" srcId="{28E71C07-EB5B-4B71-BB2A-F3146A0FFBB3}" destId="{8435BA27-D837-4749-AE0C-F0A6619693AD}" srcOrd="0" destOrd="0" presId="urn:microsoft.com/office/officeart/2005/8/layout/process5"/>
    <dgm:cxn modelId="{7FA7B7EB-4205-C541-BADB-11DF5A0C6235}" type="presOf" srcId="{99EFB17E-C672-41E6-A57C-3E7842179783}" destId="{0E01905E-ABDD-1E4F-A503-E69E3E491001}" srcOrd="1" destOrd="0" presId="urn:microsoft.com/office/officeart/2005/8/layout/process5"/>
    <dgm:cxn modelId="{B20820E0-8821-1C42-B842-A3BCEE617437}" type="presParOf" srcId="{7E3188BD-CB15-DE4D-8B88-34720940E76B}" destId="{8435BA27-D837-4749-AE0C-F0A6619693AD}" srcOrd="0" destOrd="0" presId="urn:microsoft.com/office/officeart/2005/8/layout/process5"/>
    <dgm:cxn modelId="{7726B282-E030-0745-9084-4C10189855B6}" type="presParOf" srcId="{7E3188BD-CB15-DE4D-8B88-34720940E76B}" destId="{00A347AC-1E05-1D48-BA6B-BBDDF6E6B279}" srcOrd="1" destOrd="0" presId="urn:microsoft.com/office/officeart/2005/8/layout/process5"/>
    <dgm:cxn modelId="{07DB663F-4D00-0846-93D3-322D9ED17CC4}" type="presParOf" srcId="{00A347AC-1E05-1D48-BA6B-BBDDF6E6B279}" destId="{1C40B39B-401F-254B-9B05-BDE9BEC38425}" srcOrd="0" destOrd="0" presId="urn:microsoft.com/office/officeart/2005/8/layout/process5"/>
    <dgm:cxn modelId="{A852BA81-BBB7-724B-BDCA-506DB2689A38}" type="presParOf" srcId="{7E3188BD-CB15-DE4D-8B88-34720940E76B}" destId="{9673A32B-0C9A-E645-8E24-D0DE2741002B}" srcOrd="2" destOrd="0" presId="urn:microsoft.com/office/officeart/2005/8/layout/process5"/>
    <dgm:cxn modelId="{B00FEC9C-BFAB-8E42-833A-13682ECB6015}" type="presParOf" srcId="{7E3188BD-CB15-DE4D-8B88-34720940E76B}" destId="{FD7D7522-8837-CC47-8BE8-77AA76449977}" srcOrd="3" destOrd="0" presId="urn:microsoft.com/office/officeart/2005/8/layout/process5"/>
    <dgm:cxn modelId="{945F8C82-04F7-DA4D-A207-35926D9D69BB}" type="presParOf" srcId="{FD7D7522-8837-CC47-8BE8-77AA76449977}" destId="{0E01905E-ABDD-1E4F-A503-E69E3E491001}" srcOrd="0" destOrd="0" presId="urn:microsoft.com/office/officeart/2005/8/layout/process5"/>
    <dgm:cxn modelId="{2EF3CF7E-4659-3644-985B-5EE4A0CFB22D}" type="presParOf" srcId="{7E3188BD-CB15-DE4D-8B88-34720940E76B}" destId="{63997F22-7C5A-F541-866F-3FB7B10BF376}" srcOrd="4" destOrd="0" presId="urn:microsoft.com/office/officeart/2005/8/layout/process5"/>
    <dgm:cxn modelId="{50719958-889C-684D-BBDD-A876F1C197C6}" type="presParOf" srcId="{7E3188BD-CB15-DE4D-8B88-34720940E76B}" destId="{FD24B8DA-24DA-EB47-8A64-358085DDEFBE}" srcOrd="5" destOrd="0" presId="urn:microsoft.com/office/officeart/2005/8/layout/process5"/>
    <dgm:cxn modelId="{E84965C8-4022-A240-946A-2A439A034254}" type="presParOf" srcId="{FD24B8DA-24DA-EB47-8A64-358085DDEFBE}" destId="{8687C71E-6085-214C-8B7B-9335E2D4CCEB}" srcOrd="0" destOrd="0" presId="urn:microsoft.com/office/officeart/2005/8/layout/process5"/>
    <dgm:cxn modelId="{ADC020EC-D8BD-CB4D-8E3F-910CB9E80A7B}" type="presParOf" srcId="{7E3188BD-CB15-DE4D-8B88-34720940E76B}" destId="{652916DD-0F7E-194A-8F63-12CE50E7DC41}"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3E53D9-A997-6B4A-8EE1-7279BA19DCA2}" type="doc">
      <dgm:prSet loTypeId="urn:microsoft.com/office/officeart/2008/layout/VerticalCurvedList" loCatId="" qsTypeId="urn:microsoft.com/office/officeart/2005/8/quickstyle/simple1" qsCatId="simple" csTypeId="urn:microsoft.com/office/officeart/2005/8/colors/accent2_2" csCatId="accent2" phldr="1"/>
      <dgm:spPr/>
      <dgm:t>
        <a:bodyPr/>
        <a:lstStyle/>
        <a:p>
          <a:pPr rtl="1"/>
          <a:endParaRPr lang="ar-SA"/>
        </a:p>
      </dgm:t>
    </dgm:pt>
    <dgm:pt modelId="{1F75C3C8-5A61-4246-BE25-2ADAADEC9517}">
      <dgm:prSet phldrT="[نص]"/>
      <dgm:spPr/>
      <dgm:t>
        <a:bodyPr/>
        <a:lstStyle/>
        <a:p>
          <a:pPr algn="r" rtl="1"/>
          <a:r>
            <a:rPr lang="ar-SA" b="1" dirty="0"/>
            <a:t>شركة المتكاملة للخدمات البحرية القابضة المحدودة</a:t>
          </a:r>
        </a:p>
        <a:p>
          <a:pPr algn="r" rtl="1"/>
          <a:r>
            <a:rPr lang="en" dirty="0"/>
            <a:t>https://</a:t>
          </a:r>
          <a:r>
            <a:rPr lang="en" dirty="0" err="1"/>
            <a:t>seaexpertis.com</a:t>
          </a:r>
          <a:r>
            <a:rPr lang="en" dirty="0"/>
            <a:t>/</a:t>
          </a:r>
          <a:endParaRPr lang="ar-SA" dirty="0"/>
        </a:p>
      </dgm:t>
    </dgm:pt>
    <dgm:pt modelId="{4E21739E-FFC2-3148-A4C3-CD1EDABDFC51}" type="parTrans" cxnId="{6D71A68E-7AB7-4047-9D06-23B418A29EE7}">
      <dgm:prSet/>
      <dgm:spPr/>
      <dgm:t>
        <a:bodyPr/>
        <a:lstStyle/>
        <a:p>
          <a:pPr rtl="1"/>
          <a:endParaRPr lang="ar-SA"/>
        </a:p>
      </dgm:t>
    </dgm:pt>
    <dgm:pt modelId="{590BCBB0-9C57-A54C-AF5D-F84D34E76B61}" type="sibTrans" cxnId="{6D71A68E-7AB7-4047-9D06-23B418A29EE7}">
      <dgm:prSet/>
      <dgm:spPr/>
      <dgm:t>
        <a:bodyPr/>
        <a:lstStyle/>
        <a:p>
          <a:pPr rtl="1"/>
          <a:endParaRPr lang="ar-SA"/>
        </a:p>
      </dgm:t>
    </dgm:pt>
    <dgm:pt modelId="{4E6B0E66-8261-5947-AB31-304D65BE54ED}">
      <dgm:prSet phldrT="[نص]"/>
      <dgm:spPr/>
      <dgm:t>
        <a:bodyPr/>
        <a:lstStyle/>
        <a:p>
          <a:pPr algn="r" rtl="1"/>
          <a:r>
            <a:rPr lang="ar-SA" b="1"/>
            <a:t>شركة بوت برو للخدمات البحرية</a:t>
          </a:r>
        </a:p>
        <a:p>
          <a:pPr algn="r" rtl="1"/>
          <a:r>
            <a:rPr lang="ar-SA"/>
            <a:t>متخصصة في تشغيل تطبيق لتأجير القوارب واليخوت والوسائط الترفيهية البحرية</a:t>
          </a:r>
        </a:p>
        <a:p>
          <a:pPr algn="r" rtl="1"/>
          <a:r>
            <a:rPr lang="en">
              <a:hlinkClick xmlns:r="http://schemas.openxmlformats.org/officeDocument/2006/relationships" r:id="rId1">
                <a:extLst>
                  <a:ext uri="{A12FA001-AC4F-418D-AE19-62706E023703}">
                    <ahyp:hlinkClr xmlns:ahyp="http://schemas.microsoft.com/office/drawing/2018/hyperlinkcolor" val="tx"/>
                  </a:ext>
                </a:extLst>
              </a:hlinkClick>
            </a:rPr>
            <a:t>https://boatpro.club/</a:t>
          </a:r>
          <a:endParaRPr lang="ar-SA" dirty="0"/>
        </a:p>
      </dgm:t>
    </dgm:pt>
    <dgm:pt modelId="{C2C52C52-47B5-0D45-8AAA-386DDE803137}" type="parTrans" cxnId="{9AA3834A-9262-CA43-BF6C-BBC78359DFF3}">
      <dgm:prSet/>
      <dgm:spPr/>
      <dgm:t>
        <a:bodyPr/>
        <a:lstStyle/>
        <a:p>
          <a:pPr rtl="1"/>
          <a:endParaRPr lang="ar-SA"/>
        </a:p>
      </dgm:t>
    </dgm:pt>
    <dgm:pt modelId="{963D6431-0923-B448-BDCA-2EF619825D39}" type="sibTrans" cxnId="{9AA3834A-9262-CA43-BF6C-BBC78359DFF3}">
      <dgm:prSet/>
      <dgm:spPr/>
      <dgm:t>
        <a:bodyPr/>
        <a:lstStyle/>
        <a:p>
          <a:pPr rtl="1"/>
          <a:endParaRPr lang="ar-SA"/>
        </a:p>
      </dgm:t>
    </dgm:pt>
    <dgm:pt modelId="{F5DCF4D8-1048-A541-8979-F775E5BF328E}">
      <dgm:prSet phldrT="[نص]"/>
      <dgm:spPr/>
      <dgm:t>
        <a:bodyPr/>
        <a:lstStyle/>
        <a:p>
          <a:pPr algn="r" rtl="1"/>
          <a:r>
            <a:rPr lang="ar-SA" b="1" dirty="0"/>
            <a:t>شركة </a:t>
          </a:r>
          <a:r>
            <a:rPr lang="ar-SA" b="1" dirty="0" err="1"/>
            <a:t>لونير</a:t>
          </a:r>
          <a:r>
            <a:rPr lang="ar-SA" b="1" dirty="0"/>
            <a:t> مارينا للخدمات البحرية</a:t>
          </a:r>
        </a:p>
        <a:p>
          <a:pPr algn="r" rtl="1"/>
          <a:r>
            <a:rPr lang="ar-SA" dirty="0"/>
            <a:t>متخصصة في خدمات إدارة وتشغيل اليخوت </a:t>
          </a:r>
          <a:r>
            <a:rPr lang="ar-SA" dirty="0" err="1"/>
            <a:t>والمراسي</a:t>
          </a:r>
          <a:r>
            <a:rPr lang="ar-SA" dirty="0"/>
            <a:t> ومرافقها.</a:t>
          </a:r>
        </a:p>
      </dgm:t>
    </dgm:pt>
    <dgm:pt modelId="{41588C7E-D4E4-8E47-85C9-0416784A5A0B}" type="parTrans" cxnId="{B8C64824-2DEA-E345-962F-0676993D8384}">
      <dgm:prSet/>
      <dgm:spPr/>
      <dgm:t>
        <a:bodyPr/>
        <a:lstStyle/>
        <a:p>
          <a:pPr rtl="1"/>
          <a:endParaRPr lang="ar-SA"/>
        </a:p>
      </dgm:t>
    </dgm:pt>
    <dgm:pt modelId="{F9A5BE52-DA4A-BB47-B42E-FB319C6158FE}" type="sibTrans" cxnId="{B8C64824-2DEA-E345-962F-0676993D8384}">
      <dgm:prSet/>
      <dgm:spPr/>
      <dgm:t>
        <a:bodyPr/>
        <a:lstStyle/>
        <a:p>
          <a:pPr rtl="1"/>
          <a:endParaRPr lang="ar-SA"/>
        </a:p>
      </dgm:t>
    </dgm:pt>
    <dgm:pt modelId="{978C1448-199C-8B43-AF28-0B0EAF740CEA}" type="pres">
      <dgm:prSet presAssocID="{093E53D9-A997-6B4A-8EE1-7279BA19DCA2}" presName="Name0" presStyleCnt="0">
        <dgm:presLayoutVars>
          <dgm:chMax val="7"/>
          <dgm:chPref val="7"/>
          <dgm:dir/>
        </dgm:presLayoutVars>
      </dgm:prSet>
      <dgm:spPr/>
    </dgm:pt>
    <dgm:pt modelId="{0E9B76E7-E035-9241-A7D4-4979128BB898}" type="pres">
      <dgm:prSet presAssocID="{093E53D9-A997-6B4A-8EE1-7279BA19DCA2}" presName="Name1" presStyleCnt="0"/>
      <dgm:spPr/>
    </dgm:pt>
    <dgm:pt modelId="{2CC84155-1D03-A649-806F-91CE975B0293}" type="pres">
      <dgm:prSet presAssocID="{093E53D9-A997-6B4A-8EE1-7279BA19DCA2}" presName="cycle" presStyleCnt="0"/>
      <dgm:spPr/>
    </dgm:pt>
    <dgm:pt modelId="{B42A0443-68F0-5945-83F6-C6F29E53E6E8}" type="pres">
      <dgm:prSet presAssocID="{093E53D9-A997-6B4A-8EE1-7279BA19DCA2}" presName="srcNode" presStyleLbl="node1" presStyleIdx="0" presStyleCnt="3"/>
      <dgm:spPr/>
    </dgm:pt>
    <dgm:pt modelId="{5006922E-6BC3-2C47-95E4-0DCCFF7728A1}" type="pres">
      <dgm:prSet presAssocID="{093E53D9-A997-6B4A-8EE1-7279BA19DCA2}" presName="conn" presStyleLbl="parChTrans1D2" presStyleIdx="0" presStyleCnt="1"/>
      <dgm:spPr/>
    </dgm:pt>
    <dgm:pt modelId="{6879B602-7D04-2245-964C-56A68ECABFED}" type="pres">
      <dgm:prSet presAssocID="{093E53D9-A997-6B4A-8EE1-7279BA19DCA2}" presName="extraNode" presStyleLbl="node1" presStyleIdx="0" presStyleCnt="3"/>
      <dgm:spPr/>
    </dgm:pt>
    <dgm:pt modelId="{2003343A-2950-064D-8414-BB9F232B68F4}" type="pres">
      <dgm:prSet presAssocID="{093E53D9-A997-6B4A-8EE1-7279BA19DCA2}" presName="dstNode" presStyleLbl="node1" presStyleIdx="0" presStyleCnt="3"/>
      <dgm:spPr/>
    </dgm:pt>
    <dgm:pt modelId="{9C848083-7E67-1440-A23C-503A495C69B1}" type="pres">
      <dgm:prSet presAssocID="{1F75C3C8-5A61-4246-BE25-2ADAADEC9517}" presName="text_1" presStyleLbl="node1" presStyleIdx="0" presStyleCnt="3">
        <dgm:presLayoutVars>
          <dgm:bulletEnabled val="1"/>
        </dgm:presLayoutVars>
      </dgm:prSet>
      <dgm:spPr/>
    </dgm:pt>
    <dgm:pt modelId="{F61266CA-3B0B-5043-8AD6-348BDBF4D249}" type="pres">
      <dgm:prSet presAssocID="{1F75C3C8-5A61-4246-BE25-2ADAADEC9517}" presName="accent_1" presStyleCnt="0"/>
      <dgm:spPr/>
    </dgm:pt>
    <dgm:pt modelId="{A9F75F8D-F14F-1D48-9AA6-F206B7FD2433}" type="pres">
      <dgm:prSet presAssocID="{1F75C3C8-5A61-4246-BE25-2ADAADEC9517}" presName="accentRepeatNode" presStyleLbl="solidFgAcc1" presStyleIdx="0" presStyleCnt="3"/>
      <dgm:spPr/>
    </dgm:pt>
    <dgm:pt modelId="{F168BA2B-65C4-1949-AB83-20C064A088BE}" type="pres">
      <dgm:prSet presAssocID="{4E6B0E66-8261-5947-AB31-304D65BE54ED}" presName="text_2" presStyleLbl="node1" presStyleIdx="1" presStyleCnt="3">
        <dgm:presLayoutVars>
          <dgm:bulletEnabled val="1"/>
        </dgm:presLayoutVars>
      </dgm:prSet>
      <dgm:spPr/>
    </dgm:pt>
    <dgm:pt modelId="{7C8EFECB-B436-4A46-83E7-844B39F5A8EE}" type="pres">
      <dgm:prSet presAssocID="{4E6B0E66-8261-5947-AB31-304D65BE54ED}" presName="accent_2" presStyleCnt="0"/>
      <dgm:spPr/>
    </dgm:pt>
    <dgm:pt modelId="{A873C568-7E42-BC42-BFEA-D672787AA380}" type="pres">
      <dgm:prSet presAssocID="{4E6B0E66-8261-5947-AB31-304D65BE54ED}" presName="accentRepeatNode" presStyleLbl="solidFgAcc1" presStyleIdx="1" presStyleCnt="3"/>
      <dgm:spPr/>
    </dgm:pt>
    <dgm:pt modelId="{501D37DE-007C-2844-95E3-9062FA103099}" type="pres">
      <dgm:prSet presAssocID="{F5DCF4D8-1048-A541-8979-F775E5BF328E}" presName="text_3" presStyleLbl="node1" presStyleIdx="2" presStyleCnt="3">
        <dgm:presLayoutVars>
          <dgm:bulletEnabled val="1"/>
        </dgm:presLayoutVars>
      </dgm:prSet>
      <dgm:spPr/>
    </dgm:pt>
    <dgm:pt modelId="{256FD7CB-CEA0-A345-8604-4076BE4752ED}" type="pres">
      <dgm:prSet presAssocID="{F5DCF4D8-1048-A541-8979-F775E5BF328E}" presName="accent_3" presStyleCnt="0"/>
      <dgm:spPr/>
    </dgm:pt>
    <dgm:pt modelId="{78CC975C-378E-4046-BCA4-4AF39D609FA0}" type="pres">
      <dgm:prSet presAssocID="{F5DCF4D8-1048-A541-8979-F775E5BF328E}" presName="accentRepeatNode" presStyleLbl="solidFgAcc1" presStyleIdx="2" presStyleCnt="3"/>
      <dgm:spPr/>
    </dgm:pt>
  </dgm:ptLst>
  <dgm:cxnLst>
    <dgm:cxn modelId="{877A7C04-A9B7-544D-8C6B-41B6046D5BEB}" type="presOf" srcId="{093E53D9-A997-6B4A-8EE1-7279BA19DCA2}" destId="{978C1448-199C-8B43-AF28-0B0EAF740CEA}" srcOrd="0" destOrd="0" presId="urn:microsoft.com/office/officeart/2008/layout/VerticalCurvedList"/>
    <dgm:cxn modelId="{CF6C881F-5D18-0B45-8625-D511AB20483B}" type="presOf" srcId="{590BCBB0-9C57-A54C-AF5D-F84D34E76B61}" destId="{5006922E-6BC3-2C47-95E4-0DCCFF7728A1}" srcOrd="0" destOrd="0" presId="urn:microsoft.com/office/officeart/2008/layout/VerticalCurvedList"/>
    <dgm:cxn modelId="{B8C64824-2DEA-E345-962F-0676993D8384}" srcId="{093E53D9-A997-6B4A-8EE1-7279BA19DCA2}" destId="{F5DCF4D8-1048-A541-8979-F775E5BF328E}" srcOrd="2" destOrd="0" parTransId="{41588C7E-D4E4-8E47-85C9-0416784A5A0B}" sibTransId="{F9A5BE52-DA4A-BB47-B42E-FB319C6158FE}"/>
    <dgm:cxn modelId="{81229532-EA72-0544-9D59-570500AB52B5}" type="presOf" srcId="{4E6B0E66-8261-5947-AB31-304D65BE54ED}" destId="{F168BA2B-65C4-1949-AB83-20C064A088BE}" srcOrd="0" destOrd="0" presId="urn:microsoft.com/office/officeart/2008/layout/VerticalCurvedList"/>
    <dgm:cxn modelId="{9AA3834A-9262-CA43-BF6C-BBC78359DFF3}" srcId="{093E53D9-A997-6B4A-8EE1-7279BA19DCA2}" destId="{4E6B0E66-8261-5947-AB31-304D65BE54ED}" srcOrd="1" destOrd="0" parTransId="{C2C52C52-47B5-0D45-8AAA-386DDE803137}" sibTransId="{963D6431-0923-B448-BDCA-2EF619825D39}"/>
    <dgm:cxn modelId="{6D71A68E-7AB7-4047-9D06-23B418A29EE7}" srcId="{093E53D9-A997-6B4A-8EE1-7279BA19DCA2}" destId="{1F75C3C8-5A61-4246-BE25-2ADAADEC9517}" srcOrd="0" destOrd="0" parTransId="{4E21739E-FFC2-3148-A4C3-CD1EDABDFC51}" sibTransId="{590BCBB0-9C57-A54C-AF5D-F84D34E76B61}"/>
    <dgm:cxn modelId="{F1EE2493-AF4E-FE43-830F-C6AC6E19F541}" type="presOf" srcId="{1F75C3C8-5A61-4246-BE25-2ADAADEC9517}" destId="{9C848083-7E67-1440-A23C-503A495C69B1}" srcOrd="0" destOrd="0" presId="urn:microsoft.com/office/officeart/2008/layout/VerticalCurvedList"/>
    <dgm:cxn modelId="{2DC7A6C7-5575-D746-8D91-DDF91CD22BBB}" type="presOf" srcId="{F5DCF4D8-1048-A541-8979-F775E5BF328E}" destId="{501D37DE-007C-2844-95E3-9062FA103099}" srcOrd="0" destOrd="0" presId="urn:microsoft.com/office/officeart/2008/layout/VerticalCurvedList"/>
    <dgm:cxn modelId="{DEB5D4AE-FCFC-8A4C-BD59-2E4E2C557796}" type="presParOf" srcId="{978C1448-199C-8B43-AF28-0B0EAF740CEA}" destId="{0E9B76E7-E035-9241-A7D4-4979128BB898}" srcOrd="0" destOrd="0" presId="urn:microsoft.com/office/officeart/2008/layout/VerticalCurvedList"/>
    <dgm:cxn modelId="{E3B31CF8-FD9A-0E4B-A24F-9AC81882F4C4}" type="presParOf" srcId="{0E9B76E7-E035-9241-A7D4-4979128BB898}" destId="{2CC84155-1D03-A649-806F-91CE975B0293}" srcOrd="0" destOrd="0" presId="urn:microsoft.com/office/officeart/2008/layout/VerticalCurvedList"/>
    <dgm:cxn modelId="{6F023B12-A5BE-9543-8B13-96FD1E2E9314}" type="presParOf" srcId="{2CC84155-1D03-A649-806F-91CE975B0293}" destId="{B42A0443-68F0-5945-83F6-C6F29E53E6E8}" srcOrd="0" destOrd="0" presId="urn:microsoft.com/office/officeart/2008/layout/VerticalCurvedList"/>
    <dgm:cxn modelId="{6ECC2901-B31E-0647-9B8F-CCA1C296AA63}" type="presParOf" srcId="{2CC84155-1D03-A649-806F-91CE975B0293}" destId="{5006922E-6BC3-2C47-95E4-0DCCFF7728A1}" srcOrd="1" destOrd="0" presId="urn:microsoft.com/office/officeart/2008/layout/VerticalCurvedList"/>
    <dgm:cxn modelId="{3B65ABBB-E6CA-914F-A197-580C05A56974}" type="presParOf" srcId="{2CC84155-1D03-A649-806F-91CE975B0293}" destId="{6879B602-7D04-2245-964C-56A68ECABFED}" srcOrd="2" destOrd="0" presId="urn:microsoft.com/office/officeart/2008/layout/VerticalCurvedList"/>
    <dgm:cxn modelId="{5F16C0A2-F7BA-9A48-8662-ACB9F2896114}" type="presParOf" srcId="{2CC84155-1D03-A649-806F-91CE975B0293}" destId="{2003343A-2950-064D-8414-BB9F232B68F4}" srcOrd="3" destOrd="0" presId="urn:microsoft.com/office/officeart/2008/layout/VerticalCurvedList"/>
    <dgm:cxn modelId="{8A179797-CE08-4447-B598-E7B37BB60D4D}" type="presParOf" srcId="{0E9B76E7-E035-9241-A7D4-4979128BB898}" destId="{9C848083-7E67-1440-A23C-503A495C69B1}" srcOrd="1" destOrd="0" presId="urn:microsoft.com/office/officeart/2008/layout/VerticalCurvedList"/>
    <dgm:cxn modelId="{A8212F6A-6A14-D04B-94D0-3F12C6FC93EE}" type="presParOf" srcId="{0E9B76E7-E035-9241-A7D4-4979128BB898}" destId="{F61266CA-3B0B-5043-8AD6-348BDBF4D249}" srcOrd="2" destOrd="0" presId="urn:microsoft.com/office/officeart/2008/layout/VerticalCurvedList"/>
    <dgm:cxn modelId="{9522CC23-12E8-5242-9ABE-828650A9C383}" type="presParOf" srcId="{F61266CA-3B0B-5043-8AD6-348BDBF4D249}" destId="{A9F75F8D-F14F-1D48-9AA6-F206B7FD2433}" srcOrd="0" destOrd="0" presId="urn:microsoft.com/office/officeart/2008/layout/VerticalCurvedList"/>
    <dgm:cxn modelId="{0F23349E-45BA-034C-A8FC-A353A197CDA4}" type="presParOf" srcId="{0E9B76E7-E035-9241-A7D4-4979128BB898}" destId="{F168BA2B-65C4-1949-AB83-20C064A088BE}" srcOrd="3" destOrd="0" presId="urn:microsoft.com/office/officeart/2008/layout/VerticalCurvedList"/>
    <dgm:cxn modelId="{9619B234-29AC-B948-BF4F-3681D3D9984A}" type="presParOf" srcId="{0E9B76E7-E035-9241-A7D4-4979128BB898}" destId="{7C8EFECB-B436-4A46-83E7-844B39F5A8EE}" srcOrd="4" destOrd="0" presId="urn:microsoft.com/office/officeart/2008/layout/VerticalCurvedList"/>
    <dgm:cxn modelId="{1452E19D-9E71-8640-AB18-53B5C83846E1}" type="presParOf" srcId="{7C8EFECB-B436-4A46-83E7-844B39F5A8EE}" destId="{A873C568-7E42-BC42-BFEA-D672787AA380}" srcOrd="0" destOrd="0" presId="urn:microsoft.com/office/officeart/2008/layout/VerticalCurvedList"/>
    <dgm:cxn modelId="{7D632B42-7A5D-684F-922A-81553BBB63C7}" type="presParOf" srcId="{0E9B76E7-E035-9241-A7D4-4979128BB898}" destId="{501D37DE-007C-2844-95E3-9062FA103099}" srcOrd="5" destOrd="0" presId="urn:microsoft.com/office/officeart/2008/layout/VerticalCurvedList"/>
    <dgm:cxn modelId="{53562ECF-A640-9240-86ED-4BDF75451A0E}" type="presParOf" srcId="{0E9B76E7-E035-9241-A7D4-4979128BB898}" destId="{256FD7CB-CEA0-A345-8604-4076BE4752ED}" srcOrd="6" destOrd="0" presId="urn:microsoft.com/office/officeart/2008/layout/VerticalCurvedList"/>
    <dgm:cxn modelId="{F293EC1F-1E8D-B94F-B128-266544A55FCD}" type="presParOf" srcId="{256FD7CB-CEA0-A345-8604-4076BE4752ED}" destId="{78CC975C-378E-4046-BCA4-4AF39D609FA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35BA27-D837-4749-AE0C-F0A6619693AD}">
      <dsp:nvSpPr>
        <dsp:cNvPr id="0" name=""/>
        <dsp:cNvSpPr/>
      </dsp:nvSpPr>
      <dsp:spPr>
        <a:xfrm>
          <a:off x="6836" y="3165"/>
          <a:ext cx="3640482" cy="2184289"/>
        </a:xfrm>
        <a:prstGeom prst="roundRect">
          <a:avLst>
            <a:gd name="adj" fmla="val 10000"/>
          </a:avLst>
        </a:prstGeom>
        <a:gradFill rotWithShape="0">
          <a:gsLst>
            <a:gs pos="0">
              <a:schemeClr val="accent2">
                <a:alpha val="90000"/>
                <a:hueOff val="0"/>
                <a:satOff val="0"/>
                <a:lumOff val="0"/>
                <a:alphaOff val="0"/>
                <a:satMod val="103000"/>
                <a:lumMod val="102000"/>
                <a:tint val="94000"/>
              </a:schemeClr>
            </a:gs>
            <a:gs pos="50000">
              <a:schemeClr val="accent2">
                <a:alpha val="90000"/>
                <a:hueOff val="0"/>
                <a:satOff val="0"/>
                <a:lumOff val="0"/>
                <a:alphaOff val="0"/>
                <a:satMod val="110000"/>
                <a:lumMod val="100000"/>
                <a:shade val="100000"/>
              </a:schemeClr>
            </a:gs>
            <a:gs pos="100000">
              <a:schemeClr val="accent2">
                <a:alpha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ar-SA" sz="1900" kern="1200"/>
            <a:t>خدمة عملاء راقية وشخصية</a:t>
          </a:r>
          <a:endParaRPr lang="en-US" sz="1900" kern="1200"/>
        </a:p>
      </dsp:txBody>
      <dsp:txXfrm>
        <a:off x="70812" y="67141"/>
        <a:ext cx="3512530" cy="2056337"/>
      </dsp:txXfrm>
    </dsp:sp>
    <dsp:sp modelId="{00A347AC-1E05-1D48-BA6B-BBDDF6E6B279}">
      <dsp:nvSpPr>
        <dsp:cNvPr id="0" name=""/>
        <dsp:cNvSpPr/>
      </dsp:nvSpPr>
      <dsp:spPr>
        <a:xfrm>
          <a:off x="3967681" y="643890"/>
          <a:ext cx="771782" cy="902839"/>
        </a:xfrm>
        <a:prstGeom prst="rightArrow">
          <a:avLst>
            <a:gd name="adj1" fmla="val 60000"/>
            <a:gd name="adj2" fmla="val 50000"/>
          </a:avLst>
        </a:prstGeom>
        <a:gradFill rotWithShape="0">
          <a:gsLst>
            <a:gs pos="0">
              <a:schemeClr val="accent2">
                <a:shade val="90000"/>
                <a:hueOff val="0"/>
                <a:satOff val="0"/>
                <a:lumOff val="0"/>
                <a:alphaOff val="0"/>
                <a:satMod val="103000"/>
                <a:lumMod val="102000"/>
                <a:tint val="94000"/>
              </a:schemeClr>
            </a:gs>
            <a:gs pos="50000">
              <a:schemeClr val="accent2">
                <a:shade val="90000"/>
                <a:hueOff val="0"/>
                <a:satOff val="0"/>
                <a:lumOff val="0"/>
                <a:alphaOff val="0"/>
                <a:satMod val="110000"/>
                <a:lumMod val="100000"/>
                <a:shade val="100000"/>
              </a:schemeClr>
            </a:gs>
            <a:gs pos="100000">
              <a:schemeClr val="accent2">
                <a:shade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967681" y="824458"/>
        <a:ext cx="540247" cy="541703"/>
      </dsp:txXfrm>
    </dsp:sp>
    <dsp:sp modelId="{9673A32B-0C9A-E645-8E24-D0DE2741002B}">
      <dsp:nvSpPr>
        <dsp:cNvPr id="0" name=""/>
        <dsp:cNvSpPr/>
      </dsp:nvSpPr>
      <dsp:spPr>
        <a:xfrm>
          <a:off x="5103511" y="3165"/>
          <a:ext cx="3640482" cy="2184289"/>
        </a:xfrm>
        <a:prstGeom prst="roundRect">
          <a:avLst>
            <a:gd name="adj" fmla="val 10000"/>
          </a:avLst>
        </a:prstGeom>
        <a:gradFill rotWithShape="0">
          <a:gsLst>
            <a:gs pos="0">
              <a:schemeClr val="accent2">
                <a:alpha val="90000"/>
                <a:hueOff val="0"/>
                <a:satOff val="0"/>
                <a:lumOff val="0"/>
                <a:alphaOff val="-13333"/>
                <a:satMod val="103000"/>
                <a:lumMod val="102000"/>
                <a:tint val="94000"/>
              </a:schemeClr>
            </a:gs>
            <a:gs pos="50000">
              <a:schemeClr val="accent2">
                <a:alpha val="90000"/>
                <a:hueOff val="0"/>
                <a:satOff val="0"/>
                <a:lumOff val="0"/>
                <a:alphaOff val="-13333"/>
                <a:satMod val="110000"/>
                <a:lumMod val="100000"/>
                <a:shade val="100000"/>
              </a:schemeClr>
            </a:gs>
            <a:gs pos="100000">
              <a:schemeClr val="accent2">
                <a:alpha val="90000"/>
                <a:hueOff val="0"/>
                <a:satOff val="0"/>
                <a:lumOff val="0"/>
                <a:alphaOff val="-1333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rtl="1">
            <a:lnSpc>
              <a:spcPct val="90000"/>
            </a:lnSpc>
            <a:spcBef>
              <a:spcPct val="0"/>
            </a:spcBef>
            <a:spcAft>
              <a:spcPct val="35000"/>
            </a:spcAft>
            <a:buNone/>
          </a:pPr>
          <a:r>
            <a:rPr lang="ar-SA" sz="1900" kern="1200" dirty="0"/>
            <a:t>فلسفتنا تقوم على بناء علاقات طويلة الأمد مع عملائنا. نحن نؤمن بأن الشراكة الناجحة تتطلب منا تجاوز توقعاتك باستمرار وتلبية متطلباتك في أي وقت. من خلال فهمنا العميق لاحتياجاتك وتفضيلاتك، نقدم لك خدمة مخصصة تجعلك تشعر بأنك الشريك الأهم في مسيرتنا.</a:t>
          </a:r>
          <a:endParaRPr lang="en-US" sz="1900" kern="1200" dirty="0"/>
        </a:p>
      </dsp:txBody>
      <dsp:txXfrm>
        <a:off x="5167487" y="67141"/>
        <a:ext cx="3512530" cy="2056337"/>
      </dsp:txXfrm>
    </dsp:sp>
    <dsp:sp modelId="{FD7D7522-8837-CC47-8BE8-77AA76449977}">
      <dsp:nvSpPr>
        <dsp:cNvPr id="0" name=""/>
        <dsp:cNvSpPr/>
      </dsp:nvSpPr>
      <dsp:spPr>
        <a:xfrm rot="5400000">
          <a:off x="6537861" y="2442288"/>
          <a:ext cx="771782" cy="902839"/>
        </a:xfrm>
        <a:prstGeom prst="rightArrow">
          <a:avLst>
            <a:gd name="adj1" fmla="val 60000"/>
            <a:gd name="adj2" fmla="val 50000"/>
          </a:avLst>
        </a:prstGeom>
        <a:gradFill rotWithShape="0">
          <a:gsLst>
            <a:gs pos="0">
              <a:schemeClr val="accent2">
                <a:shade val="90000"/>
                <a:hueOff val="-267410"/>
                <a:satOff val="-568"/>
                <a:lumOff val="16162"/>
                <a:alphaOff val="0"/>
                <a:satMod val="103000"/>
                <a:lumMod val="102000"/>
                <a:tint val="94000"/>
              </a:schemeClr>
            </a:gs>
            <a:gs pos="50000">
              <a:schemeClr val="accent2">
                <a:shade val="90000"/>
                <a:hueOff val="-267410"/>
                <a:satOff val="-568"/>
                <a:lumOff val="16162"/>
                <a:alphaOff val="0"/>
                <a:satMod val="110000"/>
                <a:lumMod val="100000"/>
                <a:shade val="100000"/>
              </a:schemeClr>
            </a:gs>
            <a:gs pos="100000">
              <a:schemeClr val="accent2">
                <a:shade val="90000"/>
                <a:hueOff val="-267410"/>
                <a:satOff val="-568"/>
                <a:lumOff val="1616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6652901" y="2507817"/>
        <a:ext cx="541703" cy="540247"/>
      </dsp:txXfrm>
    </dsp:sp>
    <dsp:sp modelId="{63997F22-7C5A-F541-866F-3FB7B10BF376}">
      <dsp:nvSpPr>
        <dsp:cNvPr id="0" name=""/>
        <dsp:cNvSpPr/>
      </dsp:nvSpPr>
      <dsp:spPr>
        <a:xfrm>
          <a:off x="5103511" y="3643647"/>
          <a:ext cx="3640482" cy="2184289"/>
        </a:xfrm>
        <a:prstGeom prst="roundRect">
          <a:avLst>
            <a:gd name="adj" fmla="val 10000"/>
          </a:avLst>
        </a:prstGeom>
        <a:gradFill rotWithShape="0">
          <a:gsLst>
            <a:gs pos="0">
              <a:schemeClr val="accent2">
                <a:alpha val="90000"/>
                <a:hueOff val="0"/>
                <a:satOff val="0"/>
                <a:lumOff val="0"/>
                <a:alphaOff val="-26667"/>
                <a:satMod val="103000"/>
                <a:lumMod val="102000"/>
                <a:tint val="94000"/>
              </a:schemeClr>
            </a:gs>
            <a:gs pos="50000">
              <a:schemeClr val="accent2">
                <a:alpha val="90000"/>
                <a:hueOff val="0"/>
                <a:satOff val="0"/>
                <a:lumOff val="0"/>
                <a:alphaOff val="-26667"/>
                <a:satMod val="110000"/>
                <a:lumMod val="100000"/>
                <a:shade val="100000"/>
              </a:schemeClr>
            </a:gs>
            <a:gs pos="100000">
              <a:schemeClr val="accent2">
                <a:alpha val="90000"/>
                <a:hueOff val="0"/>
                <a:satOff val="0"/>
                <a:lumOff val="0"/>
                <a:alphaOff val="-26667"/>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rtl="1">
            <a:lnSpc>
              <a:spcPct val="90000"/>
            </a:lnSpc>
            <a:spcBef>
              <a:spcPct val="0"/>
            </a:spcBef>
            <a:spcAft>
              <a:spcPct val="35000"/>
            </a:spcAft>
            <a:buNone/>
          </a:pPr>
          <a:r>
            <a:rPr lang="ar-SA" sz="1900" kern="1200" dirty="0"/>
            <a:t>تقدم لونيير مارينا مجموعة لا مثيل لها من الخدمات التي تلبي كل متطلبات المالك. سواء كنت تبحث عن دعم تشغيلي، مساعدة فنية، أو إشراف مالي، يمكنك اختيار نهجنا المتكامل الذي يشمل الإدارة الشاملة 360 درجة، أو اختيار خدمات معينة لتناسب احتياجاتك الفريدة.</a:t>
          </a:r>
          <a:endParaRPr lang="en-US" sz="1900" kern="1200" dirty="0"/>
        </a:p>
      </dsp:txBody>
      <dsp:txXfrm>
        <a:off x="5167487" y="3707623"/>
        <a:ext cx="3512530" cy="2056337"/>
      </dsp:txXfrm>
    </dsp:sp>
    <dsp:sp modelId="{FD24B8DA-24DA-EB47-8A64-358085DDEFBE}">
      <dsp:nvSpPr>
        <dsp:cNvPr id="0" name=""/>
        <dsp:cNvSpPr/>
      </dsp:nvSpPr>
      <dsp:spPr>
        <a:xfrm rot="10800000">
          <a:off x="4011366" y="4284372"/>
          <a:ext cx="771782" cy="902839"/>
        </a:xfrm>
        <a:prstGeom prst="rightArrow">
          <a:avLst>
            <a:gd name="adj1" fmla="val 60000"/>
            <a:gd name="adj2" fmla="val 50000"/>
          </a:avLst>
        </a:prstGeom>
        <a:gradFill rotWithShape="0">
          <a:gsLst>
            <a:gs pos="0">
              <a:schemeClr val="accent2">
                <a:shade val="90000"/>
                <a:hueOff val="-534820"/>
                <a:satOff val="-1136"/>
                <a:lumOff val="32325"/>
                <a:alphaOff val="0"/>
                <a:satMod val="103000"/>
                <a:lumMod val="102000"/>
                <a:tint val="94000"/>
              </a:schemeClr>
            </a:gs>
            <a:gs pos="50000">
              <a:schemeClr val="accent2">
                <a:shade val="90000"/>
                <a:hueOff val="-534820"/>
                <a:satOff val="-1136"/>
                <a:lumOff val="32325"/>
                <a:alphaOff val="0"/>
                <a:satMod val="110000"/>
                <a:lumMod val="100000"/>
                <a:shade val="100000"/>
              </a:schemeClr>
            </a:gs>
            <a:gs pos="100000">
              <a:schemeClr val="accent2">
                <a:shade val="90000"/>
                <a:hueOff val="-534820"/>
                <a:satOff val="-1136"/>
                <a:lumOff val="323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4242901" y="4464940"/>
        <a:ext cx="540247" cy="541703"/>
      </dsp:txXfrm>
    </dsp:sp>
    <dsp:sp modelId="{652916DD-0F7E-194A-8F63-12CE50E7DC41}">
      <dsp:nvSpPr>
        <dsp:cNvPr id="0" name=""/>
        <dsp:cNvSpPr/>
      </dsp:nvSpPr>
      <dsp:spPr>
        <a:xfrm>
          <a:off x="6836" y="3643647"/>
          <a:ext cx="3640482" cy="2184289"/>
        </a:xfrm>
        <a:prstGeom prst="roundRect">
          <a:avLst>
            <a:gd name="adj" fmla="val 10000"/>
          </a:avLst>
        </a:prstGeom>
        <a:gradFill rotWithShape="0">
          <a:gsLst>
            <a:gs pos="0">
              <a:schemeClr val="accent2">
                <a:alpha val="90000"/>
                <a:hueOff val="0"/>
                <a:satOff val="0"/>
                <a:lumOff val="0"/>
                <a:alphaOff val="-40000"/>
                <a:satMod val="103000"/>
                <a:lumMod val="102000"/>
                <a:tint val="94000"/>
              </a:schemeClr>
            </a:gs>
            <a:gs pos="50000">
              <a:schemeClr val="accent2">
                <a:alpha val="90000"/>
                <a:hueOff val="0"/>
                <a:satOff val="0"/>
                <a:lumOff val="0"/>
                <a:alphaOff val="-40000"/>
                <a:satMod val="110000"/>
                <a:lumMod val="100000"/>
                <a:shade val="100000"/>
              </a:schemeClr>
            </a:gs>
            <a:gs pos="100000">
              <a:schemeClr val="accent2">
                <a:alpha val="90000"/>
                <a:hueOff val="0"/>
                <a:satOff val="0"/>
                <a:lumOff val="0"/>
                <a:alpha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just" defTabSz="844550" rtl="1">
            <a:lnSpc>
              <a:spcPct val="90000"/>
            </a:lnSpc>
            <a:spcBef>
              <a:spcPct val="0"/>
            </a:spcBef>
            <a:spcAft>
              <a:spcPct val="35000"/>
            </a:spcAft>
            <a:buNone/>
          </a:pPr>
          <a:r>
            <a:rPr lang="ar-SA" sz="1900" kern="1200" dirty="0"/>
            <a:t>نحن ندرك أهمية الخصوصية لأصحاب اليخوت وضيوفهم. نتعامل مع كافة المعلومات الحساسة المتعلقة بملكية اليخت، خطط الرحلات، والضيوف بأقصى درجات السرية والاحترافية، مما يضمن الحفاظ على خصوصية عملائنا الكرام والشخصيات البارزة.</a:t>
          </a:r>
          <a:endParaRPr lang="en-US" sz="1900" kern="1200" dirty="0"/>
        </a:p>
      </dsp:txBody>
      <dsp:txXfrm>
        <a:off x="70812" y="3707623"/>
        <a:ext cx="3512530" cy="2056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6922E-6BC3-2C47-95E4-0DCCFF7728A1}">
      <dsp:nvSpPr>
        <dsp:cNvPr id="0" name=""/>
        <dsp:cNvSpPr/>
      </dsp:nvSpPr>
      <dsp:spPr>
        <a:xfrm>
          <a:off x="-6125176" y="-937410"/>
          <a:ext cx="7293488" cy="7293488"/>
        </a:xfrm>
        <a:prstGeom prst="blockArc">
          <a:avLst>
            <a:gd name="adj1" fmla="val 18900000"/>
            <a:gd name="adj2" fmla="val 2700000"/>
            <a:gd name="adj3" fmla="val 296"/>
          </a:avLst>
        </a:prstGeom>
        <a:noFill/>
        <a:ln w="1905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848083-7E67-1440-A23C-503A495C69B1}">
      <dsp:nvSpPr>
        <dsp:cNvPr id="0" name=""/>
        <dsp:cNvSpPr/>
      </dsp:nvSpPr>
      <dsp:spPr>
        <a:xfrm>
          <a:off x="752110" y="541866"/>
          <a:ext cx="7301111" cy="10837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3" tIns="45720" rIns="45720" bIns="45720" numCol="1" spcCol="1270" anchor="ctr" anchorCtr="0">
          <a:noAutofit/>
        </a:bodyPr>
        <a:lstStyle/>
        <a:p>
          <a:pPr marL="0" lvl="0" indent="0" algn="r" defTabSz="800100" rtl="1">
            <a:lnSpc>
              <a:spcPct val="90000"/>
            </a:lnSpc>
            <a:spcBef>
              <a:spcPct val="0"/>
            </a:spcBef>
            <a:spcAft>
              <a:spcPct val="35000"/>
            </a:spcAft>
            <a:buNone/>
          </a:pPr>
          <a:r>
            <a:rPr lang="ar-SA" sz="1800" b="1" kern="1200" dirty="0"/>
            <a:t>شركة المتكاملة للخدمات البحرية القابضة المحدودة</a:t>
          </a:r>
        </a:p>
        <a:p>
          <a:pPr marL="0" lvl="0" indent="0" algn="r" defTabSz="800100" rtl="1">
            <a:lnSpc>
              <a:spcPct val="90000"/>
            </a:lnSpc>
            <a:spcBef>
              <a:spcPct val="0"/>
            </a:spcBef>
            <a:spcAft>
              <a:spcPct val="35000"/>
            </a:spcAft>
            <a:buNone/>
          </a:pPr>
          <a:r>
            <a:rPr lang="en" sz="1800" kern="1200" dirty="0"/>
            <a:t>https://</a:t>
          </a:r>
          <a:r>
            <a:rPr lang="en" sz="1800" kern="1200" dirty="0" err="1"/>
            <a:t>seaexpertis.com</a:t>
          </a:r>
          <a:r>
            <a:rPr lang="en" sz="1800" kern="1200" dirty="0"/>
            <a:t>/</a:t>
          </a:r>
          <a:endParaRPr lang="ar-SA" sz="1800" kern="1200" dirty="0"/>
        </a:p>
      </dsp:txBody>
      <dsp:txXfrm>
        <a:off x="752110" y="541866"/>
        <a:ext cx="7301111" cy="1083733"/>
      </dsp:txXfrm>
    </dsp:sp>
    <dsp:sp modelId="{A9F75F8D-F14F-1D48-9AA6-F206B7FD2433}">
      <dsp:nvSpPr>
        <dsp:cNvPr id="0" name=""/>
        <dsp:cNvSpPr/>
      </dsp:nvSpPr>
      <dsp:spPr>
        <a:xfrm>
          <a:off x="74777" y="406400"/>
          <a:ext cx="1354666" cy="1354666"/>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68BA2B-65C4-1949-AB83-20C064A088BE}">
      <dsp:nvSpPr>
        <dsp:cNvPr id="0" name=""/>
        <dsp:cNvSpPr/>
      </dsp:nvSpPr>
      <dsp:spPr>
        <a:xfrm>
          <a:off x="1146048" y="2167466"/>
          <a:ext cx="6907174" cy="10837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3" tIns="45720" rIns="45720" bIns="45720" numCol="1" spcCol="1270" anchor="ctr" anchorCtr="0">
          <a:noAutofit/>
        </a:bodyPr>
        <a:lstStyle/>
        <a:p>
          <a:pPr marL="0" lvl="0" indent="0" algn="r" defTabSz="800100" rtl="1">
            <a:lnSpc>
              <a:spcPct val="90000"/>
            </a:lnSpc>
            <a:spcBef>
              <a:spcPct val="0"/>
            </a:spcBef>
            <a:spcAft>
              <a:spcPct val="35000"/>
            </a:spcAft>
            <a:buNone/>
          </a:pPr>
          <a:r>
            <a:rPr lang="ar-SA" sz="1800" b="1" kern="1200"/>
            <a:t>شركة بوت برو للخدمات البحرية</a:t>
          </a:r>
        </a:p>
        <a:p>
          <a:pPr marL="0" lvl="0" indent="0" algn="r" defTabSz="800100" rtl="1">
            <a:lnSpc>
              <a:spcPct val="90000"/>
            </a:lnSpc>
            <a:spcBef>
              <a:spcPct val="0"/>
            </a:spcBef>
            <a:spcAft>
              <a:spcPct val="35000"/>
            </a:spcAft>
            <a:buNone/>
          </a:pPr>
          <a:r>
            <a:rPr lang="ar-SA" sz="1800" kern="1200"/>
            <a:t>متخصصة في تشغيل تطبيق لتأجير القوارب واليخوت والوسائط الترفيهية البحرية</a:t>
          </a:r>
        </a:p>
        <a:p>
          <a:pPr marL="0" lvl="0" indent="0" algn="r" defTabSz="800100" rtl="1">
            <a:lnSpc>
              <a:spcPct val="90000"/>
            </a:lnSpc>
            <a:spcBef>
              <a:spcPct val="0"/>
            </a:spcBef>
            <a:spcAft>
              <a:spcPct val="35000"/>
            </a:spcAft>
            <a:buNone/>
          </a:pPr>
          <a:r>
            <a:rPr lang="en" sz="1800" kern="1200">
              <a:hlinkClick xmlns:r="http://schemas.openxmlformats.org/officeDocument/2006/relationships" r:id="rId1">
                <a:extLst>
                  <a:ext uri="{A12FA001-AC4F-418D-AE19-62706E023703}">
                    <ahyp:hlinkClr xmlns:ahyp="http://schemas.microsoft.com/office/drawing/2018/hyperlinkcolor" val="tx"/>
                  </a:ext>
                </a:extLst>
              </a:hlinkClick>
            </a:rPr>
            <a:t>https://boatpro.club/</a:t>
          </a:r>
          <a:endParaRPr lang="ar-SA" sz="1800" kern="1200" dirty="0"/>
        </a:p>
      </dsp:txBody>
      <dsp:txXfrm>
        <a:off x="1146048" y="2167466"/>
        <a:ext cx="6907174" cy="1083733"/>
      </dsp:txXfrm>
    </dsp:sp>
    <dsp:sp modelId="{A873C568-7E42-BC42-BFEA-D672787AA380}">
      <dsp:nvSpPr>
        <dsp:cNvPr id="0" name=""/>
        <dsp:cNvSpPr/>
      </dsp:nvSpPr>
      <dsp:spPr>
        <a:xfrm>
          <a:off x="468714" y="2032000"/>
          <a:ext cx="1354666" cy="1354666"/>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1D37DE-007C-2844-95E3-9062FA103099}">
      <dsp:nvSpPr>
        <dsp:cNvPr id="0" name=""/>
        <dsp:cNvSpPr/>
      </dsp:nvSpPr>
      <dsp:spPr>
        <a:xfrm>
          <a:off x="752110" y="3793066"/>
          <a:ext cx="7301111" cy="108373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0213" tIns="45720" rIns="45720" bIns="45720" numCol="1" spcCol="1270" anchor="ctr" anchorCtr="0">
          <a:noAutofit/>
        </a:bodyPr>
        <a:lstStyle/>
        <a:p>
          <a:pPr marL="0" lvl="0" indent="0" algn="r" defTabSz="800100" rtl="1">
            <a:lnSpc>
              <a:spcPct val="90000"/>
            </a:lnSpc>
            <a:spcBef>
              <a:spcPct val="0"/>
            </a:spcBef>
            <a:spcAft>
              <a:spcPct val="35000"/>
            </a:spcAft>
            <a:buNone/>
          </a:pPr>
          <a:r>
            <a:rPr lang="ar-SA" sz="1800" b="1" kern="1200" dirty="0"/>
            <a:t>شركة </a:t>
          </a:r>
          <a:r>
            <a:rPr lang="ar-SA" sz="1800" b="1" kern="1200" dirty="0" err="1"/>
            <a:t>لونير</a:t>
          </a:r>
          <a:r>
            <a:rPr lang="ar-SA" sz="1800" b="1" kern="1200" dirty="0"/>
            <a:t> مارينا للخدمات البحرية</a:t>
          </a:r>
        </a:p>
        <a:p>
          <a:pPr marL="0" lvl="0" indent="0" algn="r" defTabSz="800100" rtl="1">
            <a:lnSpc>
              <a:spcPct val="90000"/>
            </a:lnSpc>
            <a:spcBef>
              <a:spcPct val="0"/>
            </a:spcBef>
            <a:spcAft>
              <a:spcPct val="35000"/>
            </a:spcAft>
            <a:buNone/>
          </a:pPr>
          <a:r>
            <a:rPr lang="ar-SA" sz="1800" kern="1200" dirty="0"/>
            <a:t>متخصصة في خدمات إدارة وتشغيل اليخوت </a:t>
          </a:r>
          <a:r>
            <a:rPr lang="ar-SA" sz="1800" kern="1200" dirty="0" err="1"/>
            <a:t>والمراسي</a:t>
          </a:r>
          <a:r>
            <a:rPr lang="ar-SA" sz="1800" kern="1200" dirty="0"/>
            <a:t> ومرافقها.</a:t>
          </a:r>
        </a:p>
      </dsp:txBody>
      <dsp:txXfrm>
        <a:off x="752110" y="3793066"/>
        <a:ext cx="7301111" cy="1083733"/>
      </dsp:txXfrm>
    </dsp:sp>
    <dsp:sp modelId="{78CC975C-378E-4046-BCA4-4AF39D609FA0}">
      <dsp:nvSpPr>
        <dsp:cNvPr id="0" name=""/>
        <dsp:cNvSpPr/>
      </dsp:nvSpPr>
      <dsp:spPr>
        <a:xfrm>
          <a:off x="74777" y="3657600"/>
          <a:ext cx="1354666" cy="1354666"/>
        </a:xfrm>
        <a:prstGeom prst="ellipse">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0FFD40E-DC3E-371C-9FF4-6DB5F918AD3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8459573A-200B-0E82-AFA0-416011A6C0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0F5CFFB5-322A-07EA-D366-885BCCE0ABF3}"/>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5" name="عنصر نائب للتذييل 4">
            <a:extLst>
              <a:ext uri="{FF2B5EF4-FFF2-40B4-BE49-F238E27FC236}">
                <a16:creationId xmlns:a16="http://schemas.microsoft.com/office/drawing/2014/main" id="{D68CCBC3-7BD6-B2B5-2E6C-1C7910949F5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B657D10E-FAF6-5ECF-A2F5-C188ED3EFCBC}"/>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2439020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DF48BEF-832B-8008-B91A-6B5991ABF368}"/>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2460DB52-8753-CF5F-3B8A-BE8CD57A6F21}"/>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00753E-822D-A7B0-350A-C726B89F4C13}"/>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5" name="عنصر نائب للتذييل 4">
            <a:extLst>
              <a:ext uri="{FF2B5EF4-FFF2-40B4-BE49-F238E27FC236}">
                <a16:creationId xmlns:a16="http://schemas.microsoft.com/office/drawing/2014/main" id="{AC3C5C17-91E6-7455-1258-163237D3B222}"/>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E7045030-F0BF-99D3-A7C1-207E085CB40C}"/>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2204546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D435672-465C-5A5D-7A1E-557DAF32B7CB}"/>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C0A1FD09-F9FC-B122-A213-A5E4241160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D6702C1B-8700-C6ED-ACEA-E43329A1E429}"/>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5" name="عنصر نائب للتذييل 4">
            <a:extLst>
              <a:ext uri="{FF2B5EF4-FFF2-40B4-BE49-F238E27FC236}">
                <a16:creationId xmlns:a16="http://schemas.microsoft.com/office/drawing/2014/main" id="{62EDC2D1-4943-A762-520E-E95CD211408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F5E1CD1-B794-248E-9D7D-474CDBC521DC}"/>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179278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7BDF335-3BE8-95EF-B02D-944225FF0135}"/>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6EA526EF-78E5-FB9E-0B14-AEFD474D43B3}"/>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C481F4A9-4D6D-189D-00BC-EC7A056C3EDD}"/>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34637DAF-7E5A-5129-5C3D-BCE318B2571B}"/>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6" name="عنصر نائب للتذييل 5">
            <a:extLst>
              <a:ext uri="{FF2B5EF4-FFF2-40B4-BE49-F238E27FC236}">
                <a16:creationId xmlns:a16="http://schemas.microsoft.com/office/drawing/2014/main" id="{66464B4C-F4AE-E7CF-2A03-6A82ECAED3ED}"/>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06FA3235-5AF7-8D21-94FC-0F2DB57466B0}"/>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397797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5899E6A-C32B-F830-B511-7913FC6A5F3A}"/>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07763377-2508-9CE4-E9C0-9CFDEDEDA1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F8CAD31A-22C8-F85B-078D-41369AE3C711}"/>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CE55F2D5-ECCD-DF60-B4F3-310DA0D3FC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F57A77D8-40D1-17A3-1484-E1755B6AE290}"/>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4946AD46-A729-99DD-F140-3A1CC1227CC6}"/>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8" name="عنصر نائب للتذييل 7">
            <a:extLst>
              <a:ext uri="{FF2B5EF4-FFF2-40B4-BE49-F238E27FC236}">
                <a16:creationId xmlns:a16="http://schemas.microsoft.com/office/drawing/2014/main" id="{7BAD64E3-B527-9CEC-2C3A-4CCBD26AB931}"/>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AE2BE37E-D2D6-E8E4-6E61-04920E4EFD2E}"/>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329361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77BF743-4435-0E37-6797-D44A60D386D1}"/>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D9A08C6E-3CD0-DAB0-80A3-27D590B3D345}"/>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4" name="عنصر نائب للتذييل 3">
            <a:extLst>
              <a:ext uri="{FF2B5EF4-FFF2-40B4-BE49-F238E27FC236}">
                <a16:creationId xmlns:a16="http://schemas.microsoft.com/office/drawing/2014/main" id="{E8F7FC39-E318-4AC8-C336-F1679FE793D6}"/>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4CFE1A1D-9516-A6C3-781B-01BCE29515E1}"/>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1792263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3EAEC184-7953-3854-EA01-4750CA5D76D1}"/>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3" name="عنصر نائب للتذييل 2">
            <a:extLst>
              <a:ext uri="{FF2B5EF4-FFF2-40B4-BE49-F238E27FC236}">
                <a16:creationId xmlns:a16="http://schemas.microsoft.com/office/drawing/2014/main" id="{F5F1CD17-F057-C834-B8F2-87B9A105C7B5}"/>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F1BE3B0F-3791-750F-9FDC-4D24F92118B9}"/>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208839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2E677AB-E532-ED3F-FA69-C080349A0961}"/>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1E56635A-E4E3-D5F4-5943-491C68145B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83FD2734-EE67-6EAB-97A7-17722A4F39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C049E822-86DC-1D8C-8DD5-122F1CB58416}"/>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6" name="عنصر نائب للتذييل 5">
            <a:extLst>
              <a:ext uri="{FF2B5EF4-FFF2-40B4-BE49-F238E27FC236}">
                <a16:creationId xmlns:a16="http://schemas.microsoft.com/office/drawing/2014/main" id="{E3875FB1-4EBB-9620-7F71-C35FA667B79D}"/>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85716F16-C04C-2095-5BD7-876267583F48}"/>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123961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FBA1FF7-7830-E00F-4E29-A225FF14276A}"/>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9F2C25D6-76AE-FC5B-C69E-86B828700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13171D0A-E309-F3E1-49E2-2AC4896F7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5DF6E1D1-AA13-FED6-18B2-0B7E1F0AAF90}"/>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6" name="عنصر نائب للتذييل 5">
            <a:extLst>
              <a:ext uri="{FF2B5EF4-FFF2-40B4-BE49-F238E27FC236}">
                <a16:creationId xmlns:a16="http://schemas.microsoft.com/office/drawing/2014/main" id="{5143FA8D-9981-39EE-B9C3-C25712979692}"/>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CF8606A2-2A2D-F348-FE19-C099489B1DB8}"/>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3290957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78D0E16-AF98-A77A-C2FD-20C45797EDF0}"/>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6629EDCD-5626-3DE9-9DDE-02A3EF71CDA7}"/>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5BE99B05-3BB6-1A1C-1D7C-25F44B7112ED}"/>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5" name="عنصر نائب للتذييل 4">
            <a:extLst>
              <a:ext uri="{FF2B5EF4-FFF2-40B4-BE49-F238E27FC236}">
                <a16:creationId xmlns:a16="http://schemas.microsoft.com/office/drawing/2014/main" id="{4F244BEF-606F-CD27-C469-85E8F6C5243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C467EBAD-7C07-8E68-DE5A-4F87100FF19A}"/>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195906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E012057C-C06D-B666-702F-26F6BEE7B1E1}"/>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B91B85D5-5C0B-B3D3-D19B-1E506D5FEB3D}"/>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9716806-930B-56BE-9803-936DD4A7B3E7}"/>
              </a:ext>
            </a:extLst>
          </p:cNvPr>
          <p:cNvSpPr>
            <a:spLocks noGrp="1"/>
          </p:cNvSpPr>
          <p:nvPr>
            <p:ph type="dt" sz="half" idx="10"/>
          </p:nvPr>
        </p:nvSpPr>
        <p:spPr/>
        <p:txBody>
          <a:bodyPr/>
          <a:lstStyle/>
          <a:p>
            <a:fld id="{55B6755C-060B-9347-B7B2-D7C0D8BC183A}" type="datetimeFigureOut">
              <a:rPr lang="ar-SA" smtClean="0"/>
              <a:t>05/06/1447</a:t>
            </a:fld>
            <a:endParaRPr lang="ar-SA"/>
          </a:p>
        </p:txBody>
      </p:sp>
      <p:sp>
        <p:nvSpPr>
          <p:cNvPr id="5" name="عنصر نائب للتذييل 4">
            <a:extLst>
              <a:ext uri="{FF2B5EF4-FFF2-40B4-BE49-F238E27FC236}">
                <a16:creationId xmlns:a16="http://schemas.microsoft.com/office/drawing/2014/main" id="{0008136D-6FF4-1607-C7BC-42C64653C69E}"/>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63409E9-C2A6-7034-DF47-D9A4EC799A25}"/>
              </a:ext>
            </a:extLst>
          </p:cNvPr>
          <p:cNvSpPr>
            <a:spLocks noGrp="1"/>
          </p:cNvSpPr>
          <p:nvPr>
            <p:ph type="sldNum" sz="quarter" idx="12"/>
          </p:nvPr>
        </p:nvSpPr>
        <p:spPr/>
        <p:txBody>
          <a:bodyPr/>
          <a:lstStyle/>
          <a:p>
            <a:fld id="{0F1A80FE-8085-0442-B99E-E15D2FEDF3C5}" type="slidenum">
              <a:rPr lang="ar-SA" smtClean="0"/>
              <a:t>‹#›</a:t>
            </a:fld>
            <a:endParaRPr lang="ar-SA"/>
          </a:p>
        </p:txBody>
      </p:sp>
    </p:spTree>
    <p:extLst>
      <p:ext uri="{BB962C8B-B14F-4D97-AF65-F5344CB8AC3E}">
        <p14:creationId xmlns:p14="http://schemas.microsoft.com/office/powerpoint/2010/main" val="3948843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89BEB044-0E1F-D563-2C7D-BA757EBC64E2}"/>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0A11BFB7-8872-7E61-F790-201EDB7C91B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CE9B23D-D28C-16F4-73CE-70E062E7B461}"/>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55B6755C-060B-9347-B7B2-D7C0D8BC183A}" type="datetimeFigureOut">
              <a:rPr lang="ar-SA" smtClean="0"/>
              <a:t>05/06/1447</a:t>
            </a:fld>
            <a:endParaRPr lang="ar-SA"/>
          </a:p>
        </p:txBody>
      </p:sp>
      <p:sp>
        <p:nvSpPr>
          <p:cNvPr id="5" name="عنصر نائب للتذييل 4">
            <a:extLst>
              <a:ext uri="{FF2B5EF4-FFF2-40B4-BE49-F238E27FC236}">
                <a16:creationId xmlns:a16="http://schemas.microsoft.com/office/drawing/2014/main" id="{80F27237-E964-2F17-DD18-8062E0AFDA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B377ED92-EEA4-E7AA-5C9E-7C9CAB6D55E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0F1A80FE-8085-0442-B99E-E15D2FEDF3C5}" type="slidenum">
              <a:rPr lang="ar-SA" smtClean="0"/>
              <a:t>‹#›</a:t>
            </a:fld>
            <a:endParaRPr lang="ar-SA"/>
          </a:p>
        </p:txBody>
      </p:sp>
    </p:spTree>
    <p:extLst>
      <p:ext uri="{BB962C8B-B14F-4D97-AF65-F5344CB8AC3E}">
        <p14:creationId xmlns:p14="http://schemas.microsoft.com/office/powerpoint/2010/main" val="3761826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jpg"/><Relationship Id="rId7" Type="http://schemas.openxmlformats.org/officeDocument/2006/relationships/diagramColors" Target="../diagrams/colors1.xml"/><Relationship Id="rId2" Type="http://schemas.openxmlformats.org/officeDocument/2006/relationships/image" Target="../media/image5.jpg"/><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2.svg"/><Relationship Id="rId4" Type="http://schemas.openxmlformats.org/officeDocument/2006/relationships/diagramData" Target="../diagrams/data1.xml"/><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seaexpertis.com/" TargetMode="Externa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رسم 6">
            <a:extLst>
              <a:ext uri="{FF2B5EF4-FFF2-40B4-BE49-F238E27FC236}">
                <a16:creationId xmlns:a16="http://schemas.microsoft.com/office/drawing/2014/main" id="{37081B5C-7F75-9859-F678-9F9B7A547E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14" name="Freeform: Shape 13">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عنوان 1">
            <a:extLst>
              <a:ext uri="{FF2B5EF4-FFF2-40B4-BE49-F238E27FC236}">
                <a16:creationId xmlns:a16="http://schemas.microsoft.com/office/drawing/2014/main" id="{204AD504-2DB4-A504-9851-4C5753805CB9}"/>
              </a:ext>
            </a:extLst>
          </p:cNvPr>
          <p:cNvSpPr>
            <a:spLocks noGrp="1"/>
          </p:cNvSpPr>
          <p:nvPr>
            <p:ph type="ctrTitle"/>
          </p:nvPr>
        </p:nvSpPr>
        <p:spPr>
          <a:xfrm>
            <a:off x="5622061" y="762538"/>
            <a:ext cx="5649349" cy="3199862"/>
          </a:xfrm>
        </p:spPr>
        <p:txBody>
          <a:bodyPr anchor="b">
            <a:normAutofit/>
          </a:bodyPr>
          <a:lstStyle/>
          <a:p>
            <a:pPr algn="l"/>
            <a:r>
              <a:rPr lang="ar-SA" sz="6600">
                <a:solidFill>
                  <a:srgbClr val="FFFFFF"/>
                </a:solidFill>
              </a:rPr>
              <a:t>شركة لونيير مارينا</a:t>
            </a:r>
          </a:p>
        </p:txBody>
      </p:sp>
      <p:sp>
        <p:nvSpPr>
          <p:cNvPr id="3" name="عنوان فرعي 2">
            <a:extLst>
              <a:ext uri="{FF2B5EF4-FFF2-40B4-BE49-F238E27FC236}">
                <a16:creationId xmlns:a16="http://schemas.microsoft.com/office/drawing/2014/main" id="{19807884-193D-63A6-A87D-8902E903DA03}"/>
              </a:ext>
            </a:extLst>
          </p:cNvPr>
          <p:cNvSpPr>
            <a:spLocks noGrp="1"/>
          </p:cNvSpPr>
          <p:nvPr>
            <p:ph type="subTitle" idx="1"/>
          </p:nvPr>
        </p:nvSpPr>
        <p:spPr>
          <a:xfrm>
            <a:off x="5400675" y="4312561"/>
            <a:ext cx="6026337" cy="2059664"/>
          </a:xfrm>
        </p:spPr>
        <p:txBody>
          <a:bodyPr anchor="t">
            <a:normAutofit lnSpcReduction="10000"/>
          </a:bodyPr>
          <a:lstStyle/>
          <a:p>
            <a:pPr algn="r"/>
            <a:r>
              <a:rPr lang="ar-SA" sz="2000" dirty="0">
                <a:solidFill>
                  <a:srgbClr val="FFFFFF"/>
                </a:solidFill>
              </a:rPr>
              <a:t>لقد تطورت صناعة اليخوت بشكل هائل على مر السنين، حيث أصبحت اليخوت الفاخرة أكثر فخامة وتعقيدًا. إن امتلاك يخت لا يقتصر فقط على الاستمتاع بالبحار المفتوحة، بل يتعلق أيضًا بإدارة أصول متطورة تتطلب معرفة متخصصة واهتمامًا بالتفاصيل.</a:t>
            </a:r>
            <a:endParaRPr lang="en-US" sz="2000" dirty="0">
              <a:solidFill>
                <a:srgbClr val="FFFFFF"/>
              </a:solidFill>
            </a:endParaRPr>
          </a:p>
          <a:p>
            <a:pPr algn="r"/>
            <a:r>
              <a:rPr lang="ar-SA" sz="2000" dirty="0">
                <a:solidFill>
                  <a:srgbClr val="FFFFFF"/>
                </a:solidFill>
              </a:rPr>
              <a:t>هنا يبرز دور خدمات إدارة اليخوت الشاملة، التي تضمن لأصحابها الاستمتاع بوقتهم في البحر وترك تعقيدات العمليات والخدمات اللوجستية للمحترفين.</a:t>
            </a:r>
            <a:endParaRPr lang="en-US" sz="2000" dirty="0">
              <a:solidFill>
                <a:srgbClr val="FFFFFF"/>
              </a:solidFill>
            </a:endParaRPr>
          </a:p>
          <a:p>
            <a:pPr algn="l"/>
            <a:endParaRPr lang="ar-SA" sz="1700" dirty="0">
              <a:solidFill>
                <a:srgbClr val="FFFFFF"/>
              </a:solidFill>
            </a:endParaRPr>
          </a:p>
        </p:txBody>
      </p:sp>
      <p:sp>
        <p:nvSpPr>
          <p:cNvPr id="16"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917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6633E7C-F5D3-38B9-AADD-87D796E86625}"/>
              </a:ext>
            </a:extLst>
          </p:cNvPr>
          <p:cNvSpPr>
            <a:spLocks noGrp="1"/>
          </p:cNvSpPr>
          <p:nvPr>
            <p:ph type="title"/>
          </p:nvPr>
        </p:nvSpPr>
        <p:spPr>
          <a:xfrm>
            <a:off x="876694" y="941423"/>
            <a:ext cx="2833324" cy="1616203"/>
          </a:xfrm>
        </p:spPr>
        <p:txBody>
          <a:bodyPr anchor="b">
            <a:normAutofit/>
          </a:bodyPr>
          <a:lstStyle/>
          <a:p>
            <a:r>
              <a:rPr lang="ar-SA" sz="3200" dirty="0"/>
              <a:t>رفاهية بحرية استثنائية</a:t>
            </a:r>
            <a:br>
              <a:rPr lang="en-US" sz="3200" dirty="0"/>
            </a:br>
            <a:endParaRPr lang="ar-SA" sz="3200" dirty="0"/>
          </a:p>
        </p:txBody>
      </p:sp>
      <p:sp>
        <p:nvSpPr>
          <p:cNvPr id="4" name="عنصر نائب للمحتوى 3">
            <a:extLst>
              <a:ext uri="{FF2B5EF4-FFF2-40B4-BE49-F238E27FC236}">
                <a16:creationId xmlns:a16="http://schemas.microsoft.com/office/drawing/2014/main" id="{ADC41575-34B0-9C77-487F-E0350F34B7C3}"/>
              </a:ext>
            </a:extLst>
          </p:cNvPr>
          <p:cNvSpPr>
            <a:spLocks noGrp="1"/>
          </p:cNvSpPr>
          <p:nvPr>
            <p:ph sz="half" idx="2"/>
          </p:nvPr>
        </p:nvSpPr>
        <p:spPr>
          <a:xfrm>
            <a:off x="876694" y="2185995"/>
            <a:ext cx="2833324" cy="3995345"/>
          </a:xfrm>
        </p:spPr>
        <p:txBody>
          <a:bodyPr anchor="t">
            <a:normAutofit/>
          </a:bodyPr>
          <a:lstStyle/>
          <a:p>
            <a:pPr marL="0" indent="0" algn="just">
              <a:buNone/>
            </a:pPr>
            <a:r>
              <a:rPr lang="ar-SA" sz="2000" dirty="0"/>
              <a:t>في عالم تتسارع فيه وتيرة الحياة، تظل اليخوت الفاخرة ملاذًا للهدوء والتميز. لم يعد امتلاك يخت مجرد متعة، بل أصبح يتطلب إدارة دقيقة لأصل معقد. هنا يأتي دور لونيير مارينا، لنقدم لك تجربة لا مثيل لها، تجمع بين الفخامة المطلقة والاحترافية التي تضمن لك الاستمتاع بكل لحظة على متن يختك، تاركًا كل التفاصيل لنا.</a:t>
            </a:r>
            <a:endParaRPr lang="en-US" sz="2000" dirty="0"/>
          </a:p>
          <a:p>
            <a:endParaRPr lang="ar-SA" sz="2000" dirty="0"/>
          </a:p>
        </p:txBody>
      </p:sp>
      <p:pic>
        <p:nvPicPr>
          <p:cNvPr id="10" name="عنصر نائب للمحتوى 9">
            <a:extLst>
              <a:ext uri="{FF2B5EF4-FFF2-40B4-BE49-F238E27FC236}">
                <a16:creationId xmlns:a16="http://schemas.microsoft.com/office/drawing/2014/main" id="{80BCA6FF-1B15-EF62-38E9-EBB34274361A}"/>
              </a:ext>
            </a:extLst>
          </p:cNvPr>
          <p:cNvPicPr>
            <a:picLocks noGrp="1" noChangeAspect="1"/>
          </p:cNvPicPr>
          <p:nvPr>
            <p:ph sz="half" idx="1"/>
          </p:nvPr>
        </p:nvPicPr>
        <p:blipFill>
          <a:blip r:embed="rId2"/>
          <a:stretch/>
        </p:blipFill>
        <p:spPr>
          <a:xfrm>
            <a:off x="4522471" y="1237106"/>
            <a:ext cx="3287840" cy="4383786"/>
          </a:xfrm>
          <a:prstGeom prst="rect">
            <a:avLst/>
          </a:prstGeom>
        </p:spPr>
      </p:pic>
      <p:pic>
        <p:nvPicPr>
          <p:cNvPr id="7" name="رسم 6">
            <a:extLst>
              <a:ext uri="{FF2B5EF4-FFF2-40B4-BE49-F238E27FC236}">
                <a16:creationId xmlns:a16="http://schemas.microsoft.com/office/drawing/2014/main" id="{FC77A453-DE5A-7CB6-9858-3BCDF3663B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83780" y="1763236"/>
            <a:ext cx="3331526" cy="3331526"/>
          </a:xfrm>
          <a:prstGeom prst="rect">
            <a:avLst/>
          </a:prstGeom>
        </p:spPr>
      </p:pic>
      <p:grpSp>
        <p:nvGrpSpPr>
          <p:cNvPr id="15" name="Group 14">
            <a:extLst>
              <a:ext uri="{FF2B5EF4-FFF2-40B4-BE49-F238E27FC236}">
                <a16:creationId xmlns:a16="http://schemas.microsoft.com/office/drawing/2014/main" id="{792AA144-DDFF-C43B-6866-516C9091D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16" name="Rectangle 15">
              <a:extLst>
                <a:ext uri="{FF2B5EF4-FFF2-40B4-BE49-F238E27FC236}">
                  <a16:creationId xmlns:a16="http://schemas.microsoft.com/office/drawing/2014/main" id="{56557A69-9517-26A8-EF3F-E65057EE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C5987E-7AB5-0A21-D727-68B38B342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99277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عنوان 1">
            <a:extLst>
              <a:ext uri="{FF2B5EF4-FFF2-40B4-BE49-F238E27FC236}">
                <a16:creationId xmlns:a16="http://schemas.microsoft.com/office/drawing/2014/main" id="{B568ED47-B353-6894-9425-1A4523B32A55}"/>
              </a:ext>
            </a:extLst>
          </p:cNvPr>
          <p:cNvSpPr>
            <a:spLocks noGrp="1"/>
          </p:cNvSpPr>
          <p:nvPr>
            <p:ph type="title"/>
          </p:nvPr>
        </p:nvSpPr>
        <p:spPr>
          <a:xfrm>
            <a:off x="630936" y="457200"/>
            <a:ext cx="4343400" cy="1929384"/>
          </a:xfrm>
        </p:spPr>
        <p:txBody>
          <a:bodyPr anchor="ctr">
            <a:normAutofit/>
          </a:bodyPr>
          <a:lstStyle/>
          <a:p>
            <a:r>
              <a:rPr lang="ar-SA" sz="4000" dirty="0"/>
              <a:t>لماذا تختار لونيير مارينا؟</a:t>
            </a:r>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عنصر نائب للمحتوى 3">
            <a:extLst>
              <a:ext uri="{FF2B5EF4-FFF2-40B4-BE49-F238E27FC236}">
                <a16:creationId xmlns:a16="http://schemas.microsoft.com/office/drawing/2014/main" id="{A8EAA56D-F95F-CEB6-CFAE-6FBA2B7C690E}"/>
              </a:ext>
            </a:extLst>
          </p:cNvPr>
          <p:cNvSpPr>
            <a:spLocks noGrp="1"/>
          </p:cNvSpPr>
          <p:nvPr>
            <p:ph sz="half" idx="2"/>
          </p:nvPr>
        </p:nvSpPr>
        <p:spPr>
          <a:xfrm>
            <a:off x="5541263" y="457200"/>
            <a:ext cx="6007608" cy="1929384"/>
          </a:xfrm>
        </p:spPr>
        <p:txBody>
          <a:bodyPr anchor="ctr">
            <a:normAutofit/>
          </a:bodyPr>
          <a:lstStyle/>
          <a:p>
            <a:pPr marL="0" indent="0">
              <a:buNone/>
            </a:pPr>
            <a:r>
              <a:rPr lang="ar-SA" sz="2000" dirty="0"/>
              <a:t>خبرة واسعة وعلاقات استثنائية</a:t>
            </a:r>
            <a:endParaRPr lang="en-US" sz="2000" dirty="0"/>
          </a:p>
          <a:p>
            <a:pPr marL="0" indent="0">
              <a:buNone/>
            </a:pPr>
            <a:r>
              <a:rPr lang="ar-SA" sz="2000" dirty="0"/>
              <a:t>نحن شركة موثوقة في قطاع إدارة اليخوت، يضم فريقنا مديري يخوت على أعلى مستوى من الكفاءة والخبرة في العمليات المعقدة. علاقاتنا المتميزة مع أبرز المحترفين في هذا القطاع، من وسطاء ومهندسين بحريين وخبراء تأمين، تضمن لك تجربة سلسة ونتائج مثالية في كل مرحلة من مراحل دورة حياة يختك.</a:t>
            </a:r>
            <a:endParaRPr lang="en-US" sz="2000" dirty="0"/>
          </a:p>
          <a:p>
            <a:endParaRPr lang="ar-SA" sz="1700" dirty="0"/>
          </a:p>
        </p:txBody>
      </p:sp>
      <p:pic>
        <p:nvPicPr>
          <p:cNvPr id="7" name="رسم 6">
            <a:extLst>
              <a:ext uri="{FF2B5EF4-FFF2-40B4-BE49-F238E27FC236}">
                <a16:creationId xmlns:a16="http://schemas.microsoft.com/office/drawing/2014/main" id="{9E4A2B0F-5476-0895-55E9-E329795F42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60932" y="2569464"/>
            <a:ext cx="3678936" cy="3678936"/>
          </a:xfrm>
          <a:prstGeom prst="rect">
            <a:avLst/>
          </a:prstGeom>
        </p:spPr>
      </p:pic>
      <p:pic>
        <p:nvPicPr>
          <p:cNvPr id="6" name="عنصر نائب للمحتوى 5" descr="صورة تحتوي على تلبيس, شخص, ابتسامة, رجل&#10;&#10;قد يكون المحتوى الذي تم إنشاؤه بواسطة الذكاء الاصطناعي غير صحيح.">
            <a:extLst>
              <a:ext uri="{FF2B5EF4-FFF2-40B4-BE49-F238E27FC236}">
                <a16:creationId xmlns:a16="http://schemas.microsoft.com/office/drawing/2014/main" id="{762CE9B4-9DF0-DA52-5F4C-2EF909D9F436}"/>
              </a:ext>
            </a:extLst>
          </p:cNvPr>
          <p:cNvPicPr>
            <a:picLocks noGrp="1" noChangeAspect="1"/>
          </p:cNvPicPr>
          <p:nvPr>
            <p:ph sz="half" idx="1"/>
          </p:nvPr>
        </p:nvPicPr>
        <p:blipFill>
          <a:blip r:embed="rId4"/>
          <a:stretch>
            <a:fillRect/>
          </a:stretch>
        </p:blipFill>
        <p:spPr>
          <a:xfrm>
            <a:off x="7149084" y="2569464"/>
            <a:ext cx="3678936" cy="3678936"/>
          </a:xfrm>
          <a:prstGeom prst="rect">
            <a:avLst/>
          </a:prstGeom>
        </p:spPr>
      </p:pic>
    </p:spTree>
    <p:extLst>
      <p:ext uri="{BB962C8B-B14F-4D97-AF65-F5344CB8AC3E}">
        <p14:creationId xmlns:p14="http://schemas.microsoft.com/office/powerpoint/2010/main" val="380585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صورة 13">
            <a:extLst>
              <a:ext uri="{FF2B5EF4-FFF2-40B4-BE49-F238E27FC236}">
                <a16:creationId xmlns:a16="http://schemas.microsoft.com/office/drawing/2014/main" id="{9AF1B4C5-3410-A727-59A1-43C7FB980C08}"/>
              </a:ext>
            </a:extLst>
          </p:cNvPr>
          <p:cNvPicPr>
            <a:picLocks noChangeAspect="1"/>
          </p:cNvPicPr>
          <p:nvPr/>
        </p:nvPicPr>
        <p:blipFill>
          <a:blip r:embed="rId2"/>
          <a:srcRect/>
          <a:stretch/>
        </p:blipFill>
        <p:spPr>
          <a:xfrm>
            <a:off x="670560" y="2806995"/>
            <a:ext cx="2753124" cy="3253563"/>
          </a:xfrm>
          <a:prstGeom prst="rect">
            <a:avLst/>
          </a:prstGeom>
        </p:spPr>
      </p:pic>
      <p:pic>
        <p:nvPicPr>
          <p:cNvPr id="10" name="صورة 9">
            <a:extLst>
              <a:ext uri="{FF2B5EF4-FFF2-40B4-BE49-F238E27FC236}">
                <a16:creationId xmlns:a16="http://schemas.microsoft.com/office/drawing/2014/main" id="{87D05CBC-237D-A524-9476-6761810ECD3F}"/>
              </a:ext>
            </a:extLst>
          </p:cNvPr>
          <p:cNvPicPr>
            <a:picLocks noChangeAspect="1"/>
          </p:cNvPicPr>
          <p:nvPr/>
        </p:nvPicPr>
        <p:blipFill>
          <a:blip r:embed="rId3"/>
          <a:srcRect/>
          <a:stretch/>
        </p:blipFill>
        <p:spPr>
          <a:xfrm>
            <a:off x="5876632" y="2381693"/>
            <a:ext cx="3253564" cy="2169042"/>
          </a:xfrm>
          <a:prstGeom prst="rect">
            <a:avLst/>
          </a:prstGeom>
        </p:spPr>
      </p:pic>
      <p:graphicFrame>
        <p:nvGraphicFramePr>
          <p:cNvPr id="17" name="عنصر نائب للمحتوى 3">
            <a:extLst>
              <a:ext uri="{FF2B5EF4-FFF2-40B4-BE49-F238E27FC236}">
                <a16:creationId xmlns:a16="http://schemas.microsoft.com/office/drawing/2014/main" id="{8D10B469-BD05-2874-AED9-92B35385F7E5}"/>
              </a:ext>
            </a:extLst>
          </p:cNvPr>
          <p:cNvGraphicFramePr>
            <a:graphicFrameLocks noGrp="1"/>
          </p:cNvGraphicFramePr>
          <p:nvPr>
            <p:ph sz="half" idx="2"/>
            <p:extLst>
              <p:ext uri="{D42A27DB-BD31-4B8C-83A1-F6EECF244321}">
                <p14:modId xmlns:p14="http://schemas.microsoft.com/office/powerpoint/2010/main" val="3475693430"/>
              </p:ext>
            </p:extLst>
          </p:nvPr>
        </p:nvGraphicFramePr>
        <p:xfrm>
          <a:off x="3048000" y="590017"/>
          <a:ext cx="8750830" cy="58311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رسم 7">
            <a:extLst>
              <a:ext uri="{FF2B5EF4-FFF2-40B4-BE49-F238E27FC236}">
                <a16:creationId xmlns:a16="http://schemas.microsoft.com/office/drawing/2014/main" id="{3CD720AA-2905-F995-2660-C89ED24581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3170" y="168787"/>
            <a:ext cx="2047874" cy="2047874"/>
          </a:xfrm>
          <a:prstGeom prst="rect">
            <a:avLst/>
          </a:prstGeom>
        </p:spPr>
      </p:pic>
    </p:spTree>
    <p:extLst>
      <p:ext uri="{BB962C8B-B14F-4D97-AF65-F5344CB8AC3E}">
        <p14:creationId xmlns:p14="http://schemas.microsoft.com/office/powerpoint/2010/main" val="3699350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عنصر نائب للمحتوى 5" descr="صورة تحتوي على نص, لقطة شاشة, موقع إلكتروني, برمجيات&#10;&#10;قد يكون المحتوى الذي تم إنشاؤه بواسطة الذكاء الاصطناعي غير صحيح.">
            <a:extLst>
              <a:ext uri="{FF2B5EF4-FFF2-40B4-BE49-F238E27FC236}">
                <a16:creationId xmlns:a16="http://schemas.microsoft.com/office/drawing/2014/main" id="{E9A3F66B-459C-3486-96B9-74DE9763179F}"/>
              </a:ext>
            </a:extLst>
          </p:cNvPr>
          <p:cNvPicPr>
            <a:picLocks noGrp="1" noChangeAspect="1"/>
          </p:cNvPicPr>
          <p:nvPr>
            <p:ph sz="half" idx="1"/>
          </p:nvPr>
        </p:nvPicPr>
        <p:blipFill>
          <a:blip r:embed="rId2"/>
          <a:stretch>
            <a:fillRect/>
          </a:stretch>
        </p:blipFill>
        <p:spPr>
          <a:xfrm>
            <a:off x="9153083" y="3614737"/>
            <a:ext cx="2520025" cy="2308323"/>
          </a:xfrm>
        </p:spPr>
      </p:pic>
      <p:sp>
        <p:nvSpPr>
          <p:cNvPr id="4" name="عنصر نائب للمحتوى 3">
            <a:extLst>
              <a:ext uri="{FF2B5EF4-FFF2-40B4-BE49-F238E27FC236}">
                <a16:creationId xmlns:a16="http://schemas.microsoft.com/office/drawing/2014/main" id="{30DB2B10-5E7E-4A8F-0742-8F8BAE498C41}"/>
              </a:ext>
            </a:extLst>
          </p:cNvPr>
          <p:cNvSpPr>
            <a:spLocks noGrp="1"/>
          </p:cNvSpPr>
          <p:nvPr>
            <p:ph sz="half" idx="2"/>
          </p:nvPr>
        </p:nvSpPr>
        <p:spPr>
          <a:xfrm>
            <a:off x="2628900" y="414339"/>
            <a:ext cx="8724900" cy="3014662"/>
          </a:xfrm>
        </p:spPr>
        <p:txBody>
          <a:bodyPr>
            <a:normAutofit/>
          </a:bodyPr>
          <a:lstStyle/>
          <a:p>
            <a:pPr marL="0" indent="0">
              <a:buNone/>
            </a:pPr>
            <a:r>
              <a:rPr lang="ar-SA" sz="1800" u="sng" dirty="0"/>
              <a:t>باقة خدماتنا</a:t>
            </a:r>
            <a:endParaRPr lang="en-US" sz="1800" dirty="0"/>
          </a:p>
          <a:p>
            <a:pPr marL="0" indent="0">
              <a:buNone/>
            </a:pPr>
            <a:r>
              <a:rPr lang="ar-SA" sz="1800" dirty="0"/>
              <a:t>1. إدارة اليخوت والقوارب إدارة شاملة (360 درجة)</a:t>
            </a:r>
            <a:endParaRPr lang="en-US" sz="1800" dirty="0"/>
          </a:p>
          <a:p>
            <a:pPr marL="0" indent="0">
              <a:buNone/>
            </a:pPr>
            <a:r>
              <a:rPr lang="ar-SA" sz="1800" dirty="0"/>
              <a:t>نحن نقدم حلاً متكاملاً لإدارة يختك أو قاربك، يغطي جميع الجوانب التشغيلية والفنية والمالية. من الإشراف على الطاقم والصيانة الدورية إلى إدارة الميزانية والامتثال للقوانين البحرية، نحن نتولى كل شيء. يمكنك أيضًا اختيار نهج وحدوي يسمى المنهجية المعيارية (</a:t>
            </a:r>
            <a:r>
              <a:rPr lang="en-US" sz="1800" dirty="0"/>
              <a:t>Modular approach</a:t>
            </a:r>
            <a:r>
              <a:rPr lang="ar-SA" sz="1800" dirty="0"/>
              <a:t>) يتيح لك اختيار الخدمات التي تحتاجها فقط.</a:t>
            </a:r>
            <a:endParaRPr lang="en-US" sz="1800" dirty="0"/>
          </a:p>
          <a:p>
            <a:pPr marL="0" indent="0">
              <a:buNone/>
            </a:pPr>
            <a:r>
              <a:rPr lang="ar-SA" sz="1800" dirty="0"/>
              <a:t>2. خدمات الوكالة لليخوت الزائرة</a:t>
            </a:r>
            <a:endParaRPr lang="en-US" sz="1800" dirty="0"/>
          </a:p>
          <a:p>
            <a:pPr marL="0" indent="0">
              <a:buNone/>
            </a:pPr>
            <a:r>
              <a:rPr lang="ar-SA" sz="1800" dirty="0"/>
              <a:t>نرحب باليخوت الزائرة إلى سواحل المملكة العربية السعودية، ونتولى تسهيل جميع الإجراءات اللازمة لضمان وصول سلس ومغادرة مريحة. نحن نعتني بإنهاء أذونات الدخول، والتخليص الجمركي، وتوفير كافة الأوراق المطلوبة، مما يتيح لك التركيز على الاستمتاع بجمال البحر الأحمر.</a:t>
            </a:r>
          </a:p>
        </p:txBody>
      </p:sp>
      <p:sp>
        <p:nvSpPr>
          <p:cNvPr id="5" name="مربع نص 4">
            <a:extLst>
              <a:ext uri="{FF2B5EF4-FFF2-40B4-BE49-F238E27FC236}">
                <a16:creationId xmlns:a16="http://schemas.microsoft.com/office/drawing/2014/main" id="{EFF70C3A-B443-84EC-811E-6A5139B6724F}"/>
              </a:ext>
            </a:extLst>
          </p:cNvPr>
          <p:cNvSpPr txBox="1"/>
          <p:nvPr/>
        </p:nvSpPr>
        <p:spPr>
          <a:xfrm>
            <a:off x="757156" y="3614738"/>
            <a:ext cx="8243970" cy="2308324"/>
          </a:xfrm>
          <a:prstGeom prst="rect">
            <a:avLst/>
          </a:prstGeom>
          <a:noFill/>
        </p:spPr>
        <p:txBody>
          <a:bodyPr wrap="square" rtlCol="1">
            <a:spAutoFit/>
          </a:bodyPr>
          <a:lstStyle/>
          <a:p>
            <a:pPr algn="r"/>
            <a:r>
              <a:rPr lang="en-US" dirty="0"/>
              <a:t>3</a:t>
            </a:r>
            <a:r>
              <a:rPr lang="ar-SA" dirty="0"/>
              <a:t> </a:t>
            </a:r>
            <a:r>
              <a:rPr lang="en-US" dirty="0"/>
              <a:t>–</a:t>
            </a:r>
            <a:r>
              <a:rPr lang="ar-SA" dirty="0" err="1"/>
              <a:t>إ</a:t>
            </a:r>
            <a:r>
              <a:rPr lang="en-US" dirty="0"/>
              <a:t> </a:t>
            </a:r>
            <a:r>
              <a:rPr lang="ar-SA" dirty="0"/>
              <a:t>دارة وتشغيل المراسي والنوادي البحر</a:t>
            </a:r>
            <a:r>
              <a:rPr lang="en-US" dirty="0" err="1"/>
              <a:t>ي</a:t>
            </a:r>
            <a:r>
              <a:rPr lang="ar-SA" dirty="0" err="1"/>
              <a:t>ة</a:t>
            </a:r>
            <a:endParaRPr lang="en-US" dirty="0"/>
          </a:p>
          <a:p>
            <a:r>
              <a:rPr lang="ar-SA" dirty="0"/>
              <a:t>نعمل على إدارة المراسي البحرية بأعلى المعايير العالمية، مما يوفر بيئة آمنة وفاخرة لرسو اليخوت والقوارب. كما ندير النوادي البحرية التي تقدم خدمات ترفيهية ووسائل راحة حصرية لأصحاب اليخوت والقوارب، </a:t>
            </a:r>
            <a:r>
              <a:rPr lang="ar-SA" dirty="0" err="1"/>
              <a:t>وبإستخدام</a:t>
            </a:r>
            <a:r>
              <a:rPr lang="ar-SA" dirty="0"/>
              <a:t> التكنولوجية الحديثة مما يجعلها وجهة مثالية للاسترخاء والتواصل.</a:t>
            </a:r>
            <a:endParaRPr lang="en-US" dirty="0"/>
          </a:p>
          <a:p>
            <a:r>
              <a:rPr lang="ar-SA" dirty="0"/>
              <a:t>4. خدمات توظيف الطاقم</a:t>
            </a:r>
            <a:endParaRPr lang="en-US" dirty="0"/>
          </a:p>
          <a:p>
            <a:r>
              <a:rPr lang="ar-SA" dirty="0"/>
              <a:t>ندرك أن الطاقم المناسب هو أساس التجربة الاستثنائية. يختار فريق التوظيف لدينا المرشحين بعناية فائقة، لضمان توافقهم مع متطلباتك الفريدة، من حيث المهارة والشخصية. يمكنك أن تثق بأن كل فرد في الطاقم لدينا مؤهل، وذو خبرة، ومستعد لتقديم أرقى مستويات الخدمة.</a:t>
            </a:r>
            <a:endParaRPr lang="en-US" dirty="0"/>
          </a:p>
        </p:txBody>
      </p:sp>
      <p:pic>
        <p:nvPicPr>
          <p:cNvPr id="7" name="رسم 6">
            <a:extLst>
              <a:ext uri="{FF2B5EF4-FFF2-40B4-BE49-F238E27FC236}">
                <a16:creationId xmlns:a16="http://schemas.microsoft.com/office/drawing/2014/main" id="{B5B383C8-CCD8-992D-642D-772C59B5B7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162" y="268289"/>
            <a:ext cx="2047874" cy="2047874"/>
          </a:xfrm>
          <a:prstGeom prst="rect">
            <a:avLst/>
          </a:prstGeom>
        </p:spPr>
      </p:pic>
    </p:spTree>
    <p:extLst>
      <p:ext uri="{BB962C8B-B14F-4D97-AF65-F5344CB8AC3E}">
        <p14:creationId xmlns:p14="http://schemas.microsoft.com/office/powerpoint/2010/main" val="3133934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مربع نص 6">
            <a:extLst>
              <a:ext uri="{FF2B5EF4-FFF2-40B4-BE49-F238E27FC236}">
                <a16:creationId xmlns:a16="http://schemas.microsoft.com/office/drawing/2014/main" id="{A634B21A-AD51-5077-17F4-6FDC35A6A774}"/>
              </a:ext>
            </a:extLst>
          </p:cNvPr>
          <p:cNvSpPr txBox="1"/>
          <p:nvPr/>
        </p:nvSpPr>
        <p:spPr>
          <a:xfrm>
            <a:off x="640080" y="329184"/>
            <a:ext cx="6894576" cy="1783080"/>
          </a:xfrm>
          <a:prstGeom prst="rect">
            <a:avLst/>
          </a:prstGeom>
        </p:spPr>
        <p:txBody>
          <a:bodyPr rtlCol="1" anchor="b">
            <a:normAutofit/>
          </a:bodyPr>
          <a:lstStyle/>
          <a:p>
            <a:pPr algn="l">
              <a:spcAft>
                <a:spcPts val="600"/>
              </a:spcAft>
            </a:pPr>
            <a:r>
              <a:rPr lang="ar-SA" sz="5400" b="1" dirty="0" err="1"/>
              <a:t>إلتزامنا</a:t>
            </a:r>
            <a:endParaRPr lang="ar-SA" sz="5400" b="1" dirty="0"/>
          </a:p>
        </p:txBody>
      </p:sp>
      <p:sp>
        <p:nvSpPr>
          <p:cNvPr id="1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عنصر نائب للمحتوى 3">
            <a:extLst>
              <a:ext uri="{FF2B5EF4-FFF2-40B4-BE49-F238E27FC236}">
                <a16:creationId xmlns:a16="http://schemas.microsoft.com/office/drawing/2014/main" id="{199FAA53-480D-9CC9-7D00-0891750DF777}"/>
              </a:ext>
            </a:extLst>
          </p:cNvPr>
          <p:cNvSpPr>
            <a:spLocks noGrp="1"/>
          </p:cNvSpPr>
          <p:nvPr>
            <p:ph sz="half" idx="2"/>
          </p:nvPr>
        </p:nvSpPr>
        <p:spPr>
          <a:xfrm>
            <a:off x="640080" y="2214563"/>
            <a:ext cx="7246620" cy="4125087"/>
          </a:xfrm>
        </p:spPr>
        <p:txBody>
          <a:bodyPr>
            <a:normAutofit fontScale="92500" lnSpcReduction="10000"/>
          </a:bodyPr>
          <a:lstStyle/>
          <a:p>
            <a:pPr marL="0" indent="0">
              <a:buNone/>
            </a:pPr>
            <a:endParaRPr lang="en-US" sz="1200" dirty="0"/>
          </a:p>
          <a:p>
            <a:r>
              <a:rPr lang="ar-SA" sz="1200" dirty="0"/>
              <a:t>أ</a:t>
            </a:r>
            <a:r>
              <a:rPr lang="ar-SA" sz="1600" dirty="0"/>
              <a:t>على معايير الأداء والمسؤولية</a:t>
            </a:r>
            <a:endParaRPr lang="en-US" sz="1600" dirty="0"/>
          </a:p>
          <a:p>
            <a:pPr marL="0" indent="0">
              <a:buNone/>
            </a:pPr>
            <a:r>
              <a:rPr lang="ar-SA" sz="1600" dirty="0"/>
              <a:t>في لونيير مارينا، نحن ملتزمون بتقديم خدمات لا تقتصر على الفخامة فحسب، بل تمتد لتشمل الجودة، الأمان، والاستدامة.</a:t>
            </a:r>
            <a:endParaRPr lang="en-US" sz="1600" dirty="0"/>
          </a:p>
          <a:p>
            <a:r>
              <a:rPr lang="ar-SA" sz="1600" dirty="0"/>
              <a:t>الجودة والأمان</a:t>
            </a:r>
            <a:endParaRPr lang="en-US" sz="1600" dirty="0"/>
          </a:p>
          <a:p>
            <a:pPr marL="0" indent="0">
              <a:buNone/>
            </a:pPr>
            <a:r>
              <a:rPr lang="ar-SA" sz="1600" dirty="0"/>
              <a:t>نطبق أعلى معايير السلامة والأمان في كل عملية </a:t>
            </a:r>
            <a:r>
              <a:rPr lang="en-US" sz="1600" dirty="0" err="1"/>
              <a:t>ا</a:t>
            </a:r>
            <a:r>
              <a:rPr lang="ar-SA" sz="1600" dirty="0"/>
              <a:t>لتشغيل والإدارة لنضمن أن يكون يختك في حالة فنية ممتازة، مما يوفر لك ولضيوفك رحلة بحرية آمنة ومريحة في كل الأوقات.</a:t>
            </a:r>
            <a:endParaRPr lang="en-US" sz="1600" dirty="0"/>
          </a:p>
          <a:p>
            <a:r>
              <a:rPr lang="ar-SA" sz="1600" dirty="0"/>
              <a:t>المسؤولية البيئية</a:t>
            </a:r>
            <a:endParaRPr lang="en-US" sz="1600" dirty="0"/>
          </a:p>
          <a:p>
            <a:pPr marL="0" indent="0">
              <a:buNone/>
            </a:pPr>
            <a:r>
              <a:rPr lang="ar-SA" sz="1600" dirty="0"/>
              <a:t>نلتزم بالحفاظ على البيئة البحرية. نعمل بجد لتبني ممارسات صديقة للبيئة في جميع عملياتنا، من استخدام منتجات مستدامة إلى تطبيق برامج لتقليل الأثر البيئي لعملياتنا. نحن نؤمن بأن جمال البحر هو ثروة يجب الحفاظ عليها للأجيال القادمة.</a:t>
            </a:r>
            <a:endParaRPr lang="en-US" sz="1600" dirty="0"/>
          </a:p>
          <a:p>
            <a:r>
              <a:rPr lang="ar-SA" sz="1600" dirty="0"/>
              <a:t>سرية مطلقة، ثقة لا تتزعزع</a:t>
            </a:r>
            <a:endParaRPr lang="en-US" sz="1600" dirty="0"/>
          </a:p>
          <a:p>
            <a:pPr marL="0" indent="0">
              <a:buNone/>
            </a:pPr>
            <a:r>
              <a:rPr lang="ar-SA" sz="1600" dirty="0"/>
              <a:t>نحن ندرك أن الخصوصية هي أولوية قصوى بالنسبة لعملائنا. لذلك، نتعامل مع جميع المعلومات المتعلقة بالمالكين، الضيوف، وخطط الرحلات بأقصى درجات السرية والاحترافية. ثقتك هي أغلى ما نملك، ونحن نلتزم بحمايتها في كل الأوقات.</a:t>
            </a:r>
            <a:endParaRPr lang="en-US" sz="1600" dirty="0"/>
          </a:p>
          <a:p>
            <a:pPr marL="0" indent="0">
              <a:buNone/>
            </a:pPr>
            <a:endParaRPr lang="ar-SA" sz="1200" dirty="0"/>
          </a:p>
        </p:txBody>
      </p:sp>
      <p:pic>
        <p:nvPicPr>
          <p:cNvPr id="8" name="رسم 7">
            <a:extLst>
              <a:ext uri="{FF2B5EF4-FFF2-40B4-BE49-F238E27FC236}">
                <a16:creationId xmlns:a16="http://schemas.microsoft.com/office/drawing/2014/main" id="{A9FB6913-1B84-C24B-ED50-17D3B55A91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5963" y="329183"/>
            <a:ext cx="3429969" cy="3429969"/>
          </a:xfrm>
          <a:prstGeom prst="rect">
            <a:avLst/>
          </a:prstGeom>
        </p:spPr>
      </p:pic>
      <p:pic>
        <p:nvPicPr>
          <p:cNvPr id="6" name="عنصر نائب للمحتوى 5" descr="صورة تحتوي على شخص, تلبيس, بذلة, نص&#10;&#10;قد يكون المحتوى الذي تم إنشاؤه بواسطة الذكاء الاصطناعي غير صحيح.">
            <a:extLst>
              <a:ext uri="{FF2B5EF4-FFF2-40B4-BE49-F238E27FC236}">
                <a16:creationId xmlns:a16="http://schemas.microsoft.com/office/drawing/2014/main" id="{4653FB8F-E38B-E1C5-0FD0-D6519037B009}"/>
              </a:ext>
            </a:extLst>
          </p:cNvPr>
          <p:cNvPicPr>
            <a:picLocks noGrp="1" noChangeAspect="1"/>
          </p:cNvPicPr>
          <p:nvPr>
            <p:ph sz="half" idx="1"/>
          </p:nvPr>
        </p:nvPicPr>
        <p:blipFill>
          <a:blip r:embed="rId4"/>
          <a:stretch>
            <a:fillRect/>
          </a:stretch>
        </p:blipFill>
        <p:spPr>
          <a:xfrm>
            <a:off x="8237720" y="4079193"/>
            <a:ext cx="3248167" cy="2176272"/>
          </a:xfrm>
          <a:prstGeom prst="rect">
            <a:avLst/>
          </a:prstGeom>
        </p:spPr>
      </p:pic>
    </p:spTree>
    <p:extLst>
      <p:ext uri="{BB962C8B-B14F-4D97-AF65-F5344CB8AC3E}">
        <p14:creationId xmlns:p14="http://schemas.microsoft.com/office/powerpoint/2010/main" val="1097162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53C46D0D-AE7F-59F5-F39E-4236791F859D}"/>
              </a:ext>
            </a:extLst>
          </p:cNvPr>
          <p:cNvSpPr>
            <a:spLocks noGrp="1"/>
          </p:cNvSpPr>
          <p:nvPr>
            <p:ph type="title"/>
          </p:nvPr>
        </p:nvSpPr>
        <p:spPr>
          <a:xfrm>
            <a:off x="640080" y="325369"/>
            <a:ext cx="4368602" cy="1956841"/>
          </a:xfrm>
        </p:spPr>
        <p:txBody>
          <a:bodyPr anchor="b">
            <a:normAutofit/>
          </a:bodyPr>
          <a:lstStyle/>
          <a:p>
            <a:r>
              <a:rPr lang="ar-SA" sz="5400"/>
              <a:t>فريقنا</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عنصر نائب للمحتوى 3">
            <a:extLst>
              <a:ext uri="{FF2B5EF4-FFF2-40B4-BE49-F238E27FC236}">
                <a16:creationId xmlns:a16="http://schemas.microsoft.com/office/drawing/2014/main" id="{EA49BBE4-263E-A274-34DC-FBB38F07CE6D}"/>
              </a:ext>
            </a:extLst>
          </p:cNvPr>
          <p:cNvSpPr>
            <a:spLocks noGrp="1"/>
          </p:cNvSpPr>
          <p:nvPr>
            <p:ph sz="half" idx="2"/>
          </p:nvPr>
        </p:nvSpPr>
        <p:spPr>
          <a:xfrm>
            <a:off x="640080" y="2872899"/>
            <a:ext cx="4243589" cy="3320668"/>
          </a:xfrm>
        </p:spPr>
        <p:txBody>
          <a:bodyPr>
            <a:normAutofit/>
          </a:bodyPr>
          <a:lstStyle/>
          <a:p>
            <a:r>
              <a:rPr lang="ar-SA" sz="1500" dirty="0"/>
              <a:t>قلب خدمتنا</a:t>
            </a:r>
            <a:endParaRPr lang="en-US" sz="1500" dirty="0"/>
          </a:p>
          <a:p>
            <a:pPr marL="0" indent="0">
              <a:buNone/>
            </a:pPr>
            <a:r>
              <a:rPr lang="ar-SA" sz="1500" dirty="0"/>
              <a:t>" أكبر نقاط قوتنا هي العمل الجماعي. نحن نعمل مباشرة مع عملائنا؛ فكل مدير يخت مدعوم بفريق متكامل من الإدارة الفنية والحسابات والتوظيف لتقديم خدمة قوية وسريعة الاستجابة. نحن نشارك المعلومات باستمرار لضمان سير عمل كل يخت بسلاسة."</a:t>
            </a:r>
            <a:endParaRPr lang="en-US" sz="1500" dirty="0"/>
          </a:p>
          <a:p>
            <a:r>
              <a:rPr lang="ar-SA" sz="1500" dirty="0"/>
              <a:t>شغف يلهم التميز</a:t>
            </a:r>
            <a:endParaRPr lang="en-US" sz="1500" dirty="0"/>
          </a:p>
          <a:p>
            <a:pPr marL="0" indent="0">
              <a:buNone/>
            </a:pPr>
            <a:r>
              <a:rPr lang="ar-SA" sz="1500" dirty="0"/>
              <a:t>لونيير مارينا ليست مجرد شركة، بل هي فريق من الأفراد الشغوفين والمخلصين الذين يضعون شغفهم في صميم كل ما يقومون به. كل فرد في فريقنا، من المديرين إلى المهندسين والفنيين، يعمل كشريك لك، لضمان إدارة كل جانب من جوانب يختك على أكمل وجه. نحن هنا لضمان أن تتجاوز تجربة اليخوت الخاصة بك كل التوقعات.</a:t>
            </a:r>
            <a:endParaRPr lang="en-US" sz="1500" dirty="0"/>
          </a:p>
          <a:p>
            <a:pPr lvl="0"/>
            <a:endParaRPr lang="en-US" sz="1500" dirty="0"/>
          </a:p>
          <a:p>
            <a:pPr marL="0" indent="0">
              <a:buNone/>
            </a:pPr>
            <a:endParaRPr lang="ar-SA" sz="1500" dirty="0"/>
          </a:p>
        </p:txBody>
      </p:sp>
      <p:pic>
        <p:nvPicPr>
          <p:cNvPr id="6" name="عنصر نائب للمحتوى 5" descr="صورة تحتوي على في الخارج, شخص, تلبيس, سماء&#10;&#10;قد يكون المحتوى الذي تم إنشاؤه بواسطة الذكاء الاصطناعي غير صحيح.">
            <a:extLst>
              <a:ext uri="{FF2B5EF4-FFF2-40B4-BE49-F238E27FC236}">
                <a16:creationId xmlns:a16="http://schemas.microsoft.com/office/drawing/2014/main" id="{00913485-BD28-F896-B3FA-3435F0236F59}"/>
              </a:ext>
            </a:extLst>
          </p:cNvPr>
          <p:cNvPicPr>
            <a:picLocks noGrp="1" noChangeAspect="1"/>
          </p:cNvPicPr>
          <p:nvPr>
            <p:ph sz="half" idx="1"/>
          </p:nvPr>
        </p:nvPicPr>
        <p:blipFill>
          <a:blip r:embed="rId2"/>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7" name="رسم 6">
            <a:extLst>
              <a:ext uri="{FF2B5EF4-FFF2-40B4-BE49-F238E27FC236}">
                <a16:creationId xmlns:a16="http://schemas.microsoft.com/office/drawing/2014/main" id="{2E0FE13A-2A35-14E3-28A2-86CD6AA482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162" y="268289"/>
            <a:ext cx="2047874" cy="2047874"/>
          </a:xfrm>
          <a:prstGeom prst="rect">
            <a:avLst/>
          </a:prstGeom>
        </p:spPr>
      </p:pic>
    </p:spTree>
    <p:extLst>
      <p:ext uri="{BB962C8B-B14F-4D97-AF65-F5344CB8AC3E}">
        <p14:creationId xmlns:p14="http://schemas.microsoft.com/office/powerpoint/2010/main" val="3994391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266DBF85-9C4D-B541-113E-DCF9162393C6}"/>
              </a:ext>
            </a:extLst>
          </p:cNvPr>
          <p:cNvSpPr>
            <a:spLocks noGrp="1"/>
          </p:cNvSpPr>
          <p:nvPr>
            <p:ph type="title"/>
          </p:nvPr>
        </p:nvSpPr>
        <p:spPr>
          <a:xfrm>
            <a:off x="640080" y="325369"/>
            <a:ext cx="4368602" cy="1956841"/>
          </a:xfrm>
        </p:spPr>
        <p:txBody>
          <a:bodyPr anchor="b">
            <a:normAutofit/>
          </a:bodyPr>
          <a:lstStyle/>
          <a:p>
            <a:endParaRPr lang="ar-SA" sz="5400" dirty="0"/>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عنصر نائب للمحتوى 3">
            <a:extLst>
              <a:ext uri="{FF2B5EF4-FFF2-40B4-BE49-F238E27FC236}">
                <a16:creationId xmlns:a16="http://schemas.microsoft.com/office/drawing/2014/main" id="{52926975-4D46-D4AB-83A0-86E5DECF6CC3}"/>
              </a:ext>
            </a:extLst>
          </p:cNvPr>
          <p:cNvSpPr>
            <a:spLocks noGrp="1"/>
          </p:cNvSpPr>
          <p:nvPr>
            <p:ph sz="half" idx="2"/>
          </p:nvPr>
        </p:nvSpPr>
        <p:spPr>
          <a:xfrm>
            <a:off x="640080" y="2872899"/>
            <a:ext cx="4243589" cy="3320668"/>
          </a:xfrm>
        </p:spPr>
        <p:txBody>
          <a:bodyPr>
            <a:normAutofit/>
          </a:bodyPr>
          <a:lstStyle/>
          <a:p>
            <a:pPr lvl="0"/>
            <a:r>
              <a:rPr lang="ar-SA" sz="1700"/>
              <a:t>فريق متكامل: يتكون فريقنا من خبراء في إدارة اليخوت، والهندسة، وتوظيف الطاقم. نعمل كامتداد لفريقك الخاص، لضمان إدارة كل جانب من جوانب يختك على أكمل وجه.</a:t>
            </a:r>
            <a:endParaRPr lang="en-US" sz="1700"/>
          </a:p>
          <a:p>
            <a:pPr lvl="0"/>
            <a:r>
              <a:rPr lang="ar-SA" sz="1700"/>
              <a:t>تنمية الكفاءات: نحن نبحث دائمًا عن أفراد شغوفين للانضمام إلينا. نؤمن بأن الأشخاص هم من يصنعون الفارق، ونوفر لهم الفرص للتطور والنمو في مسيرة مهنية مجزية في عالم اليخوت.</a:t>
            </a:r>
            <a:endParaRPr lang="en-US" sz="1700"/>
          </a:p>
          <a:p>
            <a:pPr lvl="0"/>
            <a:r>
              <a:rPr lang="ar-SA" sz="1700"/>
              <a:t>توظيف الطاقم: نختار بعناية الطاقم المناسب الذي لا يمتلك المهارات المطلوبة فحسب، بل يمتلك أيضًا الشخصية التي تتناسب مع تفضيلاتك، مما يضمن لك تجربة متميزة على متن يختك.</a:t>
            </a:r>
          </a:p>
        </p:txBody>
      </p:sp>
      <p:pic>
        <p:nvPicPr>
          <p:cNvPr id="6" name="عنصر نائب للمحتوى 5">
            <a:extLst>
              <a:ext uri="{FF2B5EF4-FFF2-40B4-BE49-F238E27FC236}">
                <a16:creationId xmlns:a16="http://schemas.microsoft.com/office/drawing/2014/main" id="{9BA5C211-DB4B-021E-48B1-5FCD787132F3}"/>
              </a:ext>
            </a:extLst>
          </p:cNvPr>
          <p:cNvPicPr>
            <a:picLocks noGrp="1" noChangeAspect="1"/>
          </p:cNvPicPr>
          <p:nvPr>
            <p:ph sz="half" idx="1"/>
          </p:nvPr>
        </p:nvPicPr>
        <p:blipFill>
          <a:blip r:embed="rId2"/>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7" name="رسم 6">
            <a:extLst>
              <a:ext uri="{FF2B5EF4-FFF2-40B4-BE49-F238E27FC236}">
                <a16:creationId xmlns:a16="http://schemas.microsoft.com/office/drawing/2014/main" id="{1359F3F7-CE0B-7BF6-13AA-326D350954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162" y="268289"/>
            <a:ext cx="2047874" cy="2047874"/>
          </a:xfrm>
          <a:prstGeom prst="rect">
            <a:avLst/>
          </a:prstGeom>
        </p:spPr>
      </p:pic>
    </p:spTree>
    <p:extLst>
      <p:ext uri="{BB962C8B-B14F-4D97-AF65-F5344CB8AC3E}">
        <p14:creationId xmlns:p14="http://schemas.microsoft.com/office/powerpoint/2010/main" val="957550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54D6D17E-B943-2A13-43A2-1429CCC0220C}"/>
              </a:ext>
            </a:extLst>
          </p:cNvPr>
          <p:cNvSpPr>
            <a:spLocks noGrp="1"/>
          </p:cNvSpPr>
          <p:nvPr>
            <p:ph type="title"/>
          </p:nvPr>
        </p:nvSpPr>
        <p:spPr>
          <a:xfrm>
            <a:off x="640080" y="325369"/>
            <a:ext cx="4368602" cy="1956841"/>
          </a:xfrm>
        </p:spPr>
        <p:txBody>
          <a:bodyPr anchor="b">
            <a:normAutofit/>
          </a:bodyPr>
          <a:lstStyle/>
          <a:p>
            <a:r>
              <a:rPr lang="ar-SA" sz="5400"/>
              <a:t>وظائف</a:t>
            </a:r>
          </a:p>
        </p:txBody>
      </p:sp>
      <p:sp>
        <p:nvSpPr>
          <p:cNvPr id="1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عنصر نائب للمحتوى 3">
            <a:extLst>
              <a:ext uri="{FF2B5EF4-FFF2-40B4-BE49-F238E27FC236}">
                <a16:creationId xmlns:a16="http://schemas.microsoft.com/office/drawing/2014/main" id="{F6F714AC-BA04-BBE4-35D9-009522A19CBA}"/>
              </a:ext>
            </a:extLst>
          </p:cNvPr>
          <p:cNvSpPr>
            <a:spLocks noGrp="1"/>
          </p:cNvSpPr>
          <p:nvPr>
            <p:ph sz="half" idx="2"/>
          </p:nvPr>
        </p:nvSpPr>
        <p:spPr>
          <a:xfrm>
            <a:off x="640080" y="2872899"/>
            <a:ext cx="4243589" cy="3320668"/>
          </a:xfrm>
        </p:spPr>
        <p:txBody>
          <a:bodyPr>
            <a:normAutofit/>
          </a:bodyPr>
          <a:lstStyle/>
          <a:p>
            <a:pPr marL="0" indent="0">
              <a:buNone/>
            </a:pPr>
            <a:r>
              <a:rPr lang="ar-SA" sz="2200"/>
              <a:t>انضم إلينا أو تعاون معنا</a:t>
            </a:r>
            <a:endParaRPr lang="en-US" sz="2200"/>
          </a:p>
          <a:p>
            <a:pPr marL="0" indent="0">
              <a:buNone/>
            </a:pPr>
            <a:r>
              <a:rPr lang="ar-SA" sz="2200"/>
              <a:t>إذا كنت من الشغوفين بعالم اليخوت، وممن يسعون للتميز، فإن لونيير مارينا هي وجهتك. نحن نبحث دائمًا عن المواهب الاستثنائية للانضمام إلى فريقنا المتنامي. انضم إلينا وشارك في صياغة مستقبل الضيافة البحرية في المملكة.</a:t>
            </a:r>
            <a:endParaRPr lang="en-US" sz="2200"/>
          </a:p>
          <a:p>
            <a:pPr marL="0" indent="0">
              <a:buNone/>
            </a:pPr>
            <a:endParaRPr lang="ar-SA" sz="2200"/>
          </a:p>
        </p:txBody>
      </p:sp>
      <p:pic>
        <p:nvPicPr>
          <p:cNvPr id="6" name="عنصر نائب للمحتوى 5" descr="صورة تحتوي على تلبيس, شخص, رجل, ابتسامة&#10;&#10;قد يكون المحتوى الذي تم إنشاؤه بواسطة الذكاء الاصطناعي غير صحيح.">
            <a:extLst>
              <a:ext uri="{FF2B5EF4-FFF2-40B4-BE49-F238E27FC236}">
                <a16:creationId xmlns:a16="http://schemas.microsoft.com/office/drawing/2014/main" id="{DBB4487A-A038-B5C3-E480-1910C67105F5}"/>
              </a:ext>
            </a:extLst>
          </p:cNvPr>
          <p:cNvPicPr>
            <a:picLocks noGrp="1" noChangeAspect="1"/>
          </p:cNvPicPr>
          <p:nvPr>
            <p:ph sz="half" idx="1"/>
          </p:nvPr>
        </p:nvPicPr>
        <p:blipFill>
          <a:blip r:embed="rId2"/>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7" name="رسم 6">
            <a:extLst>
              <a:ext uri="{FF2B5EF4-FFF2-40B4-BE49-F238E27FC236}">
                <a16:creationId xmlns:a16="http://schemas.microsoft.com/office/drawing/2014/main" id="{21EE36E8-0D6E-CC39-E1B4-418F5DE99F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162" y="268289"/>
            <a:ext cx="2047874" cy="2047874"/>
          </a:xfrm>
          <a:prstGeom prst="rect">
            <a:avLst/>
          </a:prstGeom>
        </p:spPr>
      </p:pic>
    </p:spTree>
    <p:extLst>
      <p:ext uri="{BB962C8B-B14F-4D97-AF65-F5344CB8AC3E}">
        <p14:creationId xmlns:p14="http://schemas.microsoft.com/office/powerpoint/2010/main" val="3944753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51A0227-072A-4F5F-928C-E2C3E5C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487FA758-AE95-0A4D-E85C-223826D1C4DA}"/>
              </a:ext>
            </a:extLst>
          </p:cNvPr>
          <p:cNvSpPr>
            <a:spLocks noGrp="1"/>
          </p:cNvSpPr>
          <p:nvPr>
            <p:ph type="title"/>
          </p:nvPr>
        </p:nvSpPr>
        <p:spPr>
          <a:xfrm>
            <a:off x="630936" y="4440365"/>
            <a:ext cx="4245864" cy="1722691"/>
          </a:xfrm>
        </p:spPr>
        <p:txBody>
          <a:bodyPr anchor="ctr">
            <a:normAutofit/>
          </a:bodyPr>
          <a:lstStyle/>
          <a:p>
            <a:r>
              <a:rPr lang="ar-SA" sz="5400"/>
              <a:t>شراكات</a:t>
            </a:r>
          </a:p>
        </p:txBody>
      </p:sp>
      <p:pic>
        <p:nvPicPr>
          <p:cNvPr id="7" name="رسم 6">
            <a:extLst>
              <a:ext uri="{FF2B5EF4-FFF2-40B4-BE49-F238E27FC236}">
                <a16:creationId xmlns:a16="http://schemas.microsoft.com/office/drawing/2014/main" id="{4BD02C9C-392A-39FE-5D41-C469EE75A49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5360" y="320040"/>
            <a:ext cx="3927031" cy="3927031"/>
          </a:xfrm>
          <a:prstGeom prst="rect">
            <a:avLst/>
          </a:prstGeom>
        </p:spPr>
      </p:pic>
      <p:pic>
        <p:nvPicPr>
          <p:cNvPr id="6" name="عنصر نائب للمحتوى 5" descr="صورة تحتوي على نص, يد&#10;&#10;قد يكون المحتوى الذي تم إنشاؤه بواسطة الذكاء الاصطناعي غير صحيح.">
            <a:extLst>
              <a:ext uri="{FF2B5EF4-FFF2-40B4-BE49-F238E27FC236}">
                <a16:creationId xmlns:a16="http://schemas.microsoft.com/office/drawing/2014/main" id="{4DD9972F-D470-0F0A-17BD-22A63F729CBA}"/>
              </a:ext>
            </a:extLst>
          </p:cNvPr>
          <p:cNvPicPr>
            <a:picLocks noGrp="1" noChangeAspect="1"/>
          </p:cNvPicPr>
          <p:nvPr>
            <p:ph sz="half" idx="1"/>
          </p:nvPr>
        </p:nvPicPr>
        <p:blipFill>
          <a:blip r:embed="rId4"/>
          <a:srcRect l="4011" r="7514" b="1"/>
          <a:stretch>
            <a:fillRect/>
          </a:stretch>
        </p:blipFill>
        <p:spPr>
          <a:xfrm>
            <a:off x="6254496" y="343392"/>
            <a:ext cx="5471160" cy="3880326"/>
          </a:xfrm>
          <a:prstGeom prst="rect">
            <a:avLst/>
          </a:prstGeom>
        </p:spPr>
      </p:pic>
      <p:sp>
        <p:nvSpPr>
          <p:cNvPr id="23" name="sketchy line">
            <a:extLst>
              <a:ext uri="{FF2B5EF4-FFF2-40B4-BE49-F238E27FC236}">
                <a16:creationId xmlns:a16="http://schemas.microsoft.com/office/drawing/2014/main" id="{35D99776-4B38-47DF-A302-11AD9AF87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7304" y="529256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عنصر نائب للمحتوى 3">
            <a:extLst>
              <a:ext uri="{FF2B5EF4-FFF2-40B4-BE49-F238E27FC236}">
                <a16:creationId xmlns:a16="http://schemas.microsoft.com/office/drawing/2014/main" id="{B06381C6-9838-4188-78BD-4D35EF6FD7BA}"/>
              </a:ext>
            </a:extLst>
          </p:cNvPr>
          <p:cNvSpPr>
            <a:spLocks noGrp="1"/>
          </p:cNvSpPr>
          <p:nvPr>
            <p:ph sz="half" idx="2"/>
          </p:nvPr>
        </p:nvSpPr>
        <p:spPr>
          <a:xfrm>
            <a:off x="5333999" y="4440365"/>
            <a:ext cx="6214871" cy="1722691"/>
          </a:xfrm>
        </p:spPr>
        <p:txBody>
          <a:bodyPr anchor="ctr">
            <a:normAutofit/>
          </a:bodyPr>
          <a:lstStyle/>
          <a:p>
            <a:pPr marL="0" indent="0">
              <a:buNone/>
            </a:pPr>
            <a:r>
              <a:rPr lang="ar-SA" sz="2000"/>
              <a:t>معًا نحو التميز</a:t>
            </a:r>
            <a:endParaRPr lang="en-US" sz="2000"/>
          </a:p>
          <a:p>
            <a:pPr marL="0" indent="0">
              <a:buNone/>
            </a:pPr>
            <a:r>
              <a:rPr lang="ar-SA" sz="2000"/>
              <a:t>نحن نرحب بالشراكات مع الشركات الرائدة في القطاع، من المصممين والمهندسين البحريين إلى الموردين العالميين. نؤمن بأن التعاون هو مفتاح النجاح، ونسعى لبناء علاقات قوية تعود بالنفع على جميع الأطراف، لتقديم أفضل الخدمات لعملائنا.</a:t>
            </a:r>
            <a:endParaRPr lang="en-US" sz="2000"/>
          </a:p>
          <a:p>
            <a:pPr marL="0" indent="0">
              <a:buNone/>
            </a:pPr>
            <a:endParaRPr lang="ar-SA" sz="2000"/>
          </a:p>
        </p:txBody>
      </p:sp>
    </p:spTree>
    <p:extLst>
      <p:ext uri="{BB962C8B-B14F-4D97-AF65-F5344CB8AC3E}">
        <p14:creationId xmlns:p14="http://schemas.microsoft.com/office/powerpoint/2010/main" val="2469529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عنوان 4">
            <a:extLst>
              <a:ext uri="{FF2B5EF4-FFF2-40B4-BE49-F238E27FC236}">
                <a16:creationId xmlns:a16="http://schemas.microsoft.com/office/drawing/2014/main" id="{ACC22656-3E04-68F1-4DC7-53FCB9771610}"/>
              </a:ext>
            </a:extLst>
          </p:cNvPr>
          <p:cNvSpPr>
            <a:spLocks noGrp="1"/>
          </p:cNvSpPr>
          <p:nvPr>
            <p:ph type="title"/>
          </p:nvPr>
        </p:nvSpPr>
        <p:spPr>
          <a:xfrm>
            <a:off x="4853988" y="320041"/>
            <a:ext cx="6707084" cy="3892668"/>
          </a:xfrm>
        </p:spPr>
        <p:txBody>
          <a:bodyPr>
            <a:normAutofit/>
          </a:bodyPr>
          <a:lstStyle/>
          <a:p>
            <a:pPr algn="l"/>
            <a:r>
              <a:rPr lang="ar-SA" sz="6600"/>
              <a:t>لونيير مارينا</a:t>
            </a:r>
            <a:br>
              <a:rPr lang="ar-SA" sz="6600"/>
            </a:br>
            <a:r>
              <a:rPr lang="ar-SA" sz="6600"/>
              <a:t>أكثر من مجرد إدارة، إنها شراكة نحو الفخامة والتميز.</a:t>
            </a:r>
          </a:p>
        </p:txBody>
      </p:sp>
      <p:sp>
        <p:nvSpPr>
          <p:cNvPr id="6" name="عنصر نائب للنص 5">
            <a:extLst>
              <a:ext uri="{FF2B5EF4-FFF2-40B4-BE49-F238E27FC236}">
                <a16:creationId xmlns:a16="http://schemas.microsoft.com/office/drawing/2014/main" id="{3CEBCFC6-F66B-7C65-5294-3050ED5F8860}"/>
              </a:ext>
            </a:extLst>
          </p:cNvPr>
          <p:cNvSpPr>
            <a:spLocks noGrp="1"/>
          </p:cNvSpPr>
          <p:nvPr>
            <p:ph type="body" idx="1"/>
          </p:nvPr>
        </p:nvSpPr>
        <p:spPr>
          <a:xfrm>
            <a:off x="4853699" y="4631161"/>
            <a:ext cx="6707366" cy="1851934"/>
          </a:xfrm>
        </p:spPr>
        <p:txBody>
          <a:bodyPr>
            <a:normAutofit fontScale="85000" lnSpcReduction="10000"/>
          </a:bodyPr>
          <a:lstStyle/>
          <a:p>
            <a:pPr marL="0" indent="0" algn="r" defTabSz="914400" rtl="1" eaLnBrk="1" latinLnBrk="0" hangingPunct="1">
              <a:lnSpc>
                <a:spcPct val="90000"/>
              </a:lnSpc>
              <a:spcBef>
                <a:spcPts val="1000"/>
              </a:spcBef>
              <a:buFont typeface="Arial" panose="020B0604020202020204" pitchFamily="34" charset="0"/>
              <a:buNone/>
            </a:pPr>
            <a:r>
              <a:rPr lang="ar-SA" dirty="0"/>
              <a:t>للتواصل:</a:t>
            </a:r>
          </a:p>
          <a:p>
            <a:pPr marL="0" indent="0" algn="r" defTabSz="914400" rtl="1" eaLnBrk="1" latinLnBrk="0" hangingPunct="1">
              <a:lnSpc>
                <a:spcPct val="90000"/>
              </a:lnSpc>
              <a:spcBef>
                <a:spcPts val="1000"/>
              </a:spcBef>
              <a:buFont typeface="Arial" panose="020B0604020202020204" pitchFamily="34" charset="0"/>
              <a:buNone/>
            </a:pPr>
            <a:r>
              <a:rPr lang="ar-SA" dirty="0"/>
              <a:t>برج المرجان طريق الأمير سلطان حي الروضة جدة المملكة العربية السعودية.</a:t>
            </a:r>
          </a:p>
          <a:p>
            <a:r>
              <a:rPr lang="ar-SA" dirty="0"/>
              <a:t>هاتف: </a:t>
            </a:r>
            <a:r>
              <a:rPr lang="en-US" dirty="0"/>
              <a:t>0534457744</a:t>
            </a:r>
            <a:endParaRPr lang="ar-SA" dirty="0"/>
          </a:p>
          <a:p>
            <a:r>
              <a:rPr lang="ar-SA" dirty="0"/>
              <a:t>الموقع :</a:t>
            </a:r>
            <a:r>
              <a:rPr lang="en" dirty="0">
                <a:hlinkClick r:id="rId2"/>
              </a:rPr>
              <a:t>https://seaexpertis.com/</a:t>
            </a:r>
            <a:endParaRPr lang="en-US" dirty="0"/>
          </a:p>
          <a:p>
            <a:pPr marL="0" indent="0" algn="r" defTabSz="914400" rtl="1" eaLnBrk="1" latinLnBrk="0" hangingPunct="1">
              <a:lnSpc>
                <a:spcPct val="90000"/>
              </a:lnSpc>
              <a:spcBef>
                <a:spcPts val="1000"/>
              </a:spcBef>
              <a:buFont typeface="Arial" panose="020B0604020202020204" pitchFamily="34" charset="0"/>
              <a:buNone/>
            </a:pPr>
            <a:r>
              <a:rPr lang="ar-SA" dirty="0" err="1"/>
              <a:t>إيميل:c</a:t>
            </a:r>
            <a:r>
              <a:rPr lang="en-US" dirty="0" err="1"/>
              <a:t>ap.harbi@boatpro.club</a:t>
            </a:r>
            <a:r>
              <a:rPr lang="en-US" dirty="0"/>
              <a:t> </a:t>
            </a:r>
            <a:endParaRPr lang="ar-SA" dirty="0"/>
          </a:p>
        </p:txBody>
      </p:sp>
      <p:pic>
        <p:nvPicPr>
          <p:cNvPr id="7" name="رسم 6">
            <a:extLst>
              <a:ext uri="{FF2B5EF4-FFF2-40B4-BE49-F238E27FC236}">
                <a16:creationId xmlns:a16="http://schemas.microsoft.com/office/drawing/2014/main" id="{FB324F99-EE49-10DD-8CA2-A98F2F8CDF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0040" y="1226248"/>
            <a:ext cx="4087368" cy="4087368"/>
          </a:xfrm>
          <a:prstGeom prst="rect">
            <a:avLst/>
          </a:prstGeom>
        </p:spPr>
      </p:pic>
      <p:sp>
        <p:nvSpPr>
          <p:cNvPr id="5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5119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رسم تخطيطي 1">
            <a:extLst>
              <a:ext uri="{FF2B5EF4-FFF2-40B4-BE49-F238E27FC236}">
                <a16:creationId xmlns:a16="http://schemas.microsoft.com/office/drawing/2014/main" id="{FDA95D3A-8500-5AC9-4A99-DBD30D666578}"/>
              </a:ext>
            </a:extLst>
          </p:cNvPr>
          <p:cNvGraphicFramePr/>
          <p:nvPr>
            <p:extLst>
              <p:ext uri="{D42A27DB-BD31-4B8C-83A1-F6EECF244321}">
                <p14:modId xmlns:p14="http://schemas.microsoft.com/office/powerpoint/2010/main" val="113060109"/>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صورة 3" descr="صورة تحتوي على رمز, الرسومات, الإبداع, نجمة&#10;&#10;قد يكون المحتوى الذي تم إنشاؤه بواسطة الذكاء الاصطناعي غير صحيح.">
            <a:extLst>
              <a:ext uri="{FF2B5EF4-FFF2-40B4-BE49-F238E27FC236}">
                <a16:creationId xmlns:a16="http://schemas.microsoft.com/office/drawing/2014/main" id="{83308B03-ACF5-6F76-1B91-A72C1A9E2CF8}"/>
              </a:ext>
            </a:extLst>
          </p:cNvPr>
          <p:cNvPicPr>
            <a:picLocks noChangeAspect="1"/>
          </p:cNvPicPr>
          <p:nvPr/>
        </p:nvPicPr>
        <p:blipFill>
          <a:blip r:embed="rId7"/>
          <a:stretch>
            <a:fillRect/>
          </a:stretch>
        </p:blipFill>
        <p:spPr>
          <a:xfrm>
            <a:off x="2165371" y="1212111"/>
            <a:ext cx="1240971" cy="1148317"/>
          </a:xfrm>
          <a:prstGeom prst="rect">
            <a:avLst/>
          </a:prstGeom>
        </p:spPr>
      </p:pic>
      <p:pic>
        <p:nvPicPr>
          <p:cNvPr id="10" name="صورة 9" descr="صورة تحتوي على الرسومات, الخط, شعار, رمز&#10;&#10;قد يكون المحتوى الذي تم إنشاؤه بواسطة الذكاء الاصطناعي غير صحيح.">
            <a:extLst>
              <a:ext uri="{FF2B5EF4-FFF2-40B4-BE49-F238E27FC236}">
                <a16:creationId xmlns:a16="http://schemas.microsoft.com/office/drawing/2014/main" id="{4D244E45-C639-6A19-E5B7-371124A78CF0}"/>
              </a:ext>
            </a:extLst>
          </p:cNvPr>
          <p:cNvPicPr>
            <a:picLocks noChangeAspect="1"/>
          </p:cNvPicPr>
          <p:nvPr/>
        </p:nvPicPr>
        <p:blipFill>
          <a:blip r:embed="rId8"/>
          <a:stretch>
            <a:fillRect/>
          </a:stretch>
        </p:blipFill>
        <p:spPr>
          <a:xfrm>
            <a:off x="2700128" y="3029759"/>
            <a:ext cx="877867" cy="877867"/>
          </a:xfrm>
          <a:prstGeom prst="rect">
            <a:avLst/>
          </a:prstGeom>
        </p:spPr>
      </p:pic>
      <p:pic>
        <p:nvPicPr>
          <p:cNvPr id="12" name="صورة 11" descr="صورة تحتوي على الخط, الرسومات, لقطة شاشة, التصميم&#10;&#10;قد يكون المحتوى الذي تم إنشاؤه بواسطة الذكاء الاصطناعي غير صحيح.">
            <a:extLst>
              <a:ext uri="{FF2B5EF4-FFF2-40B4-BE49-F238E27FC236}">
                <a16:creationId xmlns:a16="http://schemas.microsoft.com/office/drawing/2014/main" id="{6A19977C-42B2-E1AC-1F5F-335F0F0FA38F}"/>
              </a:ext>
            </a:extLst>
          </p:cNvPr>
          <p:cNvPicPr>
            <a:picLocks noChangeAspect="1"/>
          </p:cNvPicPr>
          <p:nvPr/>
        </p:nvPicPr>
        <p:blipFill>
          <a:blip r:embed="rId9"/>
          <a:stretch>
            <a:fillRect/>
          </a:stretch>
        </p:blipFill>
        <p:spPr>
          <a:xfrm>
            <a:off x="1171569" y="3993355"/>
            <a:ext cx="3208340" cy="2062504"/>
          </a:xfrm>
          <a:prstGeom prst="rect">
            <a:avLst/>
          </a:prstGeom>
        </p:spPr>
      </p:pic>
      <p:sp>
        <p:nvSpPr>
          <p:cNvPr id="13" name="مربع نص 12">
            <a:extLst>
              <a:ext uri="{FF2B5EF4-FFF2-40B4-BE49-F238E27FC236}">
                <a16:creationId xmlns:a16="http://schemas.microsoft.com/office/drawing/2014/main" id="{71A01715-9C7B-ECA8-7EDC-37DB7309EE5B}"/>
              </a:ext>
            </a:extLst>
          </p:cNvPr>
          <p:cNvSpPr txBox="1"/>
          <p:nvPr/>
        </p:nvSpPr>
        <p:spPr>
          <a:xfrm>
            <a:off x="1171570" y="385763"/>
            <a:ext cx="8988430" cy="584775"/>
          </a:xfrm>
          <a:prstGeom prst="rect">
            <a:avLst/>
          </a:prstGeom>
          <a:noFill/>
        </p:spPr>
        <p:txBody>
          <a:bodyPr wrap="square" rtlCol="1">
            <a:spAutoFit/>
          </a:bodyPr>
          <a:lstStyle/>
          <a:p>
            <a:pPr algn="ctr"/>
            <a:r>
              <a:rPr lang="ar-SA" sz="3200" dirty="0"/>
              <a:t>مجموعتنا</a:t>
            </a:r>
          </a:p>
        </p:txBody>
      </p:sp>
    </p:spTree>
    <p:extLst>
      <p:ext uri="{BB962C8B-B14F-4D97-AF65-F5344CB8AC3E}">
        <p14:creationId xmlns:p14="http://schemas.microsoft.com/office/powerpoint/2010/main" val="786726865"/>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1001</TotalTime>
  <Words>1093</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نسق Office</vt:lpstr>
      <vt:lpstr>شركة لونيير مارينا</vt:lpstr>
      <vt:lpstr>رفاهية بحرية استثنائية </vt:lpstr>
      <vt:lpstr>لماذا تختار لونيير مارينا؟</vt:lpstr>
      <vt:lpstr>PowerPoint Presentation</vt:lpstr>
      <vt:lpstr>PowerPoint Presentation</vt:lpstr>
      <vt:lpstr>PowerPoint Presentation</vt:lpstr>
      <vt:lpstr>فريقنا</vt:lpstr>
      <vt:lpstr>PowerPoint Presentation</vt:lpstr>
      <vt:lpstr>وظائف</vt:lpstr>
      <vt:lpstr>شراكات</vt:lpstr>
      <vt:lpstr>لونيير مارينا أكثر من مجرد إدارة، إنها شراكة نحو الفخامة والتميز.</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Abdullah Alharbi</dc:creator>
  <cp:lastModifiedBy>Eslam ABDULLATIF</cp:lastModifiedBy>
  <cp:revision>10</cp:revision>
  <dcterms:created xsi:type="dcterms:W3CDTF">2025-08-29T19:10:35Z</dcterms:created>
  <dcterms:modified xsi:type="dcterms:W3CDTF">2025-11-25T11:55:54Z</dcterms:modified>
</cp:coreProperties>
</file>